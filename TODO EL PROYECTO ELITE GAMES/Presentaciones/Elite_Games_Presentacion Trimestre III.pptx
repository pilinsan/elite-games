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custom-properties+xml" PartName="/docProps/custom.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y="6858000" cx="12192000"/>
  <p:notesSz cx="6858000" cy="9144000"/>
  <p:embeddedFontLst>
    <p:embeddedFont>
      <p:font typeface="Work Sans"/>
      <p:regular r:id="rId24"/>
      <p:bold r:id="rId25"/>
      <p:italic r:id="rId26"/>
      <p:boldItalic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595">
          <p15:clr>
            <a:srgbClr val="A4A3A4"/>
          </p15:clr>
        </p15:guide>
        <p15:guide id="2" pos="3840">
          <p15:clr>
            <a:srgbClr val="A4A3A4"/>
          </p15:clr>
        </p15:guide>
        <p15:guide id="3" orient="horz" pos="152">
          <p15:clr>
            <a:srgbClr val="A4A3A4"/>
          </p15:clr>
        </p15:guide>
      </p15:sldGuideLst>
    </p:ext>
    <p:ext uri="GoogleSlidesCustomDataVersion2">
      <go:slidesCustomData xmlns:go="http://customooxmlschemas.google.com/" r:id="rId28" roundtripDataSignature="AMtx7mg0c+cFIc5QOMb0cLB+BqWXfnh7y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595" orient="horz"/>
        <p:guide pos="3840"/>
        <p:guide pos="152"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font" Target="fonts/WorkSans-regular.fntdata"/><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WorkSans-italic.fntdata"/><Relationship Id="rId25" Type="http://schemas.openxmlformats.org/officeDocument/2006/relationships/font" Target="fonts/WorkSans-bold.fntdata"/><Relationship Id="rId28" Type="http://customschemas.google.com/relationships/presentationmetadata" Target="metadata"/><Relationship Id="rId27" Type="http://schemas.openxmlformats.org/officeDocument/2006/relationships/font" Target="fonts/WorkSans-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91" name="Google Shape;91;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100" name="Google Shape;10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107" name="Google Shape;107;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114" name="Google Shape;11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121" name="Google Shape;121;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128" name="Google Shape;128;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f1c4674ac0_0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 name="Google Shape;134;g3f1c4674ac0_0_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135" name="Google Shape;135;g3f1c4674ac0_0_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f1c4674ac0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144" name="Google Shape;144;g3f1c4674ac0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ed1c95a546_0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g3ed1c95a546_0_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151" name="Google Shape;151;g3ed1c95a546_0_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ed1c95a546_0_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 name="Google Shape;157;g3ed1c95a546_0_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158" name="Google Shape;158;g3ed1c95a546_0_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ed1c95a546_0_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g3ed1c95a546_0_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165" name="Google Shape;165;g3ed1c95a546_0_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d3806e173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d3806e173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173" name="Google Shape;173;g3ed3806e173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f279f7552c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180" name="Google Shape;180;g3f279f7552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f279f7552c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 name="Google Shape;186;g3f279f7552c_0_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187" name="Google Shape;187;g3f279f7552c_0_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f279f7552c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 name="Google Shape;193;g3f279f7552c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194" name="Google Shape;194;g3f279f7552c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ed1c95a546_0_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200" name="Google Shape;200;g3ed1c95a546_0_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f1c4674ac0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 name="Google Shape;206;g3f1c4674ac0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207" name="Google Shape;207;g3f1c4674ac0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214" name="Google Shape;214;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 blanco" type="blank">
  <p:cSld name="BLANK">
    <p:spTree>
      <p:nvGrpSpPr>
        <p:cNvPr id="15" name="Shape 15"/>
        <p:cNvGrpSpPr/>
        <p:nvPr/>
      </p:nvGrpSpPr>
      <p:grpSpPr>
        <a:xfrm>
          <a:off x="0" y="0"/>
          <a:ext cx="0" cy="0"/>
          <a:chOff x="0" y="0"/>
          <a:chExt cx="0" cy="0"/>
        </a:xfrm>
      </p:grpSpPr>
      <p:sp>
        <p:nvSpPr>
          <p:cNvPr id="16" name="Google Shape;16;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de título" type="title">
  <p:cSld name="TITLE">
    <p:spTree>
      <p:nvGrpSpPr>
        <p:cNvPr id="19" name="Shape 19"/>
        <p:cNvGrpSpPr/>
        <p:nvPr/>
      </p:nvGrpSpPr>
      <p:grpSpPr>
        <a:xfrm>
          <a:off x="0" y="0"/>
          <a:ext cx="0" cy="0"/>
          <a:chOff x="0" y="0"/>
          <a:chExt cx="0" cy="0"/>
        </a:xfrm>
      </p:grpSpPr>
      <p:sp>
        <p:nvSpPr>
          <p:cNvPr id="20" name="Google Shape;20;p10"/>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10"/>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2" name="Google Shape;22;p1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1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1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objetos" type="obj">
  <p:cSld name="OBJECT">
    <p:spTree>
      <p:nvGrpSpPr>
        <p:cNvPr id="25" name="Shape 25"/>
        <p:cNvGrpSpPr/>
        <p:nvPr/>
      </p:nvGrpSpPr>
      <p:grpSpPr>
        <a:xfrm>
          <a:off x="0" y="0"/>
          <a:ext cx="0" cy="0"/>
          <a:chOff x="0" y="0"/>
          <a:chExt cx="0" cy="0"/>
        </a:xfrm>
      </p:grpSpPr>
      <p:sp>
        <p:nvSpPr>
          <p:cNvPr id="26" name="Google Shape;26;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1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8" name="Google Shape;28;p1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1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1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cabezado de sección" type="secHead">
  <p:cSld name="SECTION_HEADER">
    <p:spTree>
      <p:nvGrpSpPr>
        <p:cNvPr id="31" name="Shape 31"/>
        <p:cNvGrpSpPr/>
        <p:nvPr/>
      </p:nvGrpSpPr>
      <p:grpSpPr>
        <a:xfrm>
          <a:off x="0" y="0"/>
          <a:ext cx="0" cy="0"/>
          <a:chOff x="0" y="0"/>
          <a:chExt cx="0" cy="0"/>
        </a:xfrm>
      </p:grpSpPr>
      <p:sp>
        <p:nvSpPr>
          <p:cNvPr id="32" name="Google Shape;32;p12"/>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12"/>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34" name="Google Shape;34;p1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1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1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os objetos" type="twoObj">
  <p:cSld name="TWO_OBJECTS">
    <p:spTree>
      <p:nvGrpSpPr>
        <p:cNvPr id="37" name="Shape 37"/>
        <p:cNvGrpSpPr/>
        <p:nvPr/>
      </p:nvGrpSpPr>
      <p:grpSpPr>
        <a:xfrm>
          <a:off x="0" y="0"/>
          <a:ext cx="0" cy="0"/>
          <a:chOff x="0" y="0"/>
          <a:chExt cx="0" cy="0"/>
        </a:xfrm>
      </p:grpSpPr>
      <p:sp>
        <p:nvSpPr>
          <p:cNvPr id="38" name="Google Shape;38;p1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13"/>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13"/>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 name="Google Shape;41;p1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ación" type="twoTxTwoObj">
  <p:cSld name="TWO_OBJECTS_WITH_TEXT">
    <p:spTree>
      <p:nvGrpSpPr>
        <p:cNvPr id="44" name="Shape 44"/>
        <p:cNvGrpSpPr/>
        <p:nvPr/>
      </p:nvGrpSpPr>
      <p:grpSpPr>
        <a:xfrm>
          <a:off x="0" y="0"/>
          <a:ext cx="0" cy="0"/>
          <a:chOff x="0" y="0"/>
          <a:chExt cx="0" cy="0"/>
        </a:xfrm>
      </p:grpSpPr>
      <p:sp>
        <p:nvSpPr>
          <p:cNvPr id="45" name="Google Shape;45;p14"/>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6" name="Google Shape;46;p14"/>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7" name="Google Shape;47;p14"/>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8" name="Google Shape;48;p14"/>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9" name="Google Shape;49;p14"/>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0" name="Google Shape;50;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el título" type="titleOnly">
  <p:cSld name="TITLE_ONLY">
    <p:spTree>
      <p:nvGrpSpPr>
        <p:cNvPr id="53" name="Shape 53"/>
        <p:cNvGrpSpPr/>
        <p:nvPr/>
      </p:nvGrpSpPr>
      <p:grpSpPr>
        <a:xfrm>
          <a:off x="0" y="0"/>
          <a:ext cx="0" cy="0"/>
          <a:chOff x="0" y="0"/>
          <a:chExt cx="0" cy="0"/>
        </a:xfrm>
      </p:grpSpPr>
      <p:sp>
        <p:nvSpPr>
          <p:cNvPr id="54" name="Google Shape;54;p1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5" name="Google Shape;55;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ido con título" type="objTx">
  <p:cSld name="OBJECT_WITH_CAPTION_TEXT">
    <p:spTree>
      <p:nvGrpSpPr>
        <p:cNvPr id="58" name="Shape 58"/>
        <p:cNvGrpSpPr/>
        <p:nvPr/>
      </p:nvGrpSpPr>
      <p:grpSpPr>
        <a:xfrm>
          <a:off x="0" y="0"/>
          <a:ext cx="0" cy="0"/>
          <a:chOff x="0" y="0"/>
          <a:chExt cx="0" cy="0"/>
        </a:xfrm>
      </p:grpSpPr>
      <p:sp>
        <p:nvSpPr>
          <p:cNvPr id="59" name="Google Shape;59;p16"/>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16"/>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1" name="Google Shape;61;p16"/>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2" name="Google Shape;62;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n con título" type="picTx">
  <p:cSld name="PICTURE_WITH_CAPTION_TEXT">
    <p:spTree>
      <p:nvGrpSpPr>
        <p:cNvPr id="65" name="Shape 65"/>
        <p:cNvGrpSpPr/>
        <p:nvPr/>
      </p:nvGrpSpPr>
      <p:grpSpPr>
        <a:xfrm>
          <a:off x="0" y="0"/>
          <a:ext cx="0" cy="0"/>
          <a:chOff x="0" y="0"/>
          <a:chExt cx="0" cy="0"/>
        </a:xfrm>
      </p:grpSpPr>
      <p:sp>
        <p:nvSpPr>
          <p:cNvPr id="66" name="Google Shape;66;p17"/>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7"/>
          <p:cNvSpPr/>
          <p:nvPr>
            <p:ph idx="2" type="pic"/>
          </p:nvPr>
        </p:nvSpPr>
        <p:spPr>
          <a:xfrm>
            <a:off x="5183188" y="987425"/>
            <a:ext cx="6172200" cy="4873625"/>
          </a:xfrm>
          <a:prstGeom prst="rect">
            <a:avLst/>
          </a:prstGeom>
          <a:noFill/>
          <a:ln>
            <a:noFill/>
          </a:ln>
        </p:spPr>
      </p:sp>
      <p:sp>
        <p:nvSpPr>
          <p:cNvPr id="68" name="Google Shape;68;p17"/>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9" name="Google Shape;69;p1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texto vertical" type="vertTx">
  <p:cSld name="VERTICAL_TEXT">
    <p:spTree>
      <p:nvGrpSpPr>
        <p:cNvPr id="72" name="Shape 72"/>
        <p:cNvGrpSpPr/>
        <p:nvPr/>
      </p:nvGrpSpPr>
      <p:grpSpPr>
        <a:xfrm>
          <a:off x="0" y="0"/>
          <a:ext cx="0" cy="0"/>
          <a:chOff x="0" y="0"/>
          <a:chExt cx="0" cy="0"/>
        </a:xfrm>
      </p:grpSpPr>
      <p:sp>
        <p:nvSpPr>
          <p:cNvPr id="73" name="Google Shape;73;p1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18"/>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5" name="Google Shape;75;p1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vertical y texto" type="vertTitleAndTx">
  <p:cSld name="VERTICAL_TITLE_AND_VERTICAL_TEXT">
    <p:spTree>
      <p:nvGrpSpPr>
        <p:cNvPr id="78" name="Shape 78"/>
        <p:cNvGrpSpPr/>
        <p:nvPr/>
      </p:nvGrpSpPr>
      <p:grpSpPr>
        <a:xfrm>
          <a:off x="0" y="0"/>
          <a:ext cx="0" cy="0"/>
          <a:chOff x="0" y="0"/>
          <a:chExt cx="0" cy="0"/>
        </a:xfrm>
      </p:grpSpPr>
      <p:sp>
        <p:nvSpPr>
          <p:cNvPr id="79" name="Google Shape;79;p19"/>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19"/>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1" name="Google Shape;81;p1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1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seño personalizado">
  <p:cSld name="Diseño personalizado">
    <p:bg>
      <p:bgPr>
        <a:blipFill>
          <a:blip r:embed="rId2">
            <a:alphaModFix/>
          </a:blip>
          <a:stretch>
            <a:fillRect/>
          </a:stretch>
        </a:blipFill>
      </p:bgPr>
    </p:bg>
    <p:spTree>
      <p:nvGrpSpPr>
        <p:cNvPr id="84" name="Shape 84"/>
        <p:cNvGrpSpPr/>
        <p:nvPr/>
      </p:nvGrpSpPr>
      <p:grpSpPr>
        <a:xfrm>
          <a:off x="0" y="0"/>
          <a:ext cx="0" cy="0"/>
          <a:chOff x="0" y="0"/>
          <a:chExt cx="0" cy="0"/>
        </a:xfrm>
      </p:grpSpPr>
      <p:sp>
        <p:nvSpPr>
          <p:cNvPr id="85" name="Google Shape;85;p2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2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7" name="Google Shape;87;p2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p2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8"/>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3" name="Google Shape;13;p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4" name="Google Shape;14;p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https://exertisztorm.com/" TargetMode="External"/><Relationship Id="rId4" Type="http://schemas.openxmlformats.org/officeDocument/2006/relationships/hyperlink" Target="https://genbadigital.com/contact"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hyperlink" Target="https://docs.google.com/spreadsheets/d/1Oyy3ILBiDJ2r4bdSo6RhQRwF61AOLGKPQPRrxvV5mBs/edit?usp=sharing"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drive.google.com/drive/folders/1uJef1EbpaacR-WYqjElibTOE0Dgt2O_b?usp=sharing" TargetMode="External"/><Relationship Id="rId4" Type="http://schemas.openxmlformats.org/officeDocument/2006/relationships/hyperlink" Target="https://drive.google.com/drive/folders/1uJef1EbpaacR-WYqjElibTOE0Dgt2O_b?usp=sharing" TargetMode="External"/><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hyperlink" Target="https://pilinsan.github.io/Elite-Game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2" name="Shape 92"/>
        <p:cNvGrpSpPr/>
        <p:nvPr/>
      </p:nvGrpSpPr>
      <p:grpSpPr>
        <a:xfrm>
          <a:off x="0" y="0"/>
          <a:ext cx="0" cy="0"/>
          <a:chOff x="0" y="0"/>
          <a:chExt cx="0" cy="0"/>
        </a:xfrm>
      </p:grpSpPr>
      <p:sp>
        <p:nvSpPr>
          <p:cNvPr id="93" name="Google Shape;93;p1"/>
          <p:cNvSpPr txBox="1"/>
          <p:nvPr/>
        </p:nvSpPr>
        <p:spPr>
          <a:xfrm>
            <a:off x="1259925" y="1213150"/>
            <a:ext cx="2070600" cy="1077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3F3F3F"/>
              </a:buClr>
              <a:buSzPts val="5400"/>
              <a:buFont typeface="Work Sans"/>
              <a:buNone/>
            </a:pPr>
            <a:r>
              <a:rPr b="1" i="0" lang="en-US" sz="6400" u="none" cap="none" strike="noStrike">
                <a:solidFill>
                  <a:srgbClr val="3F3F3F"/>
                </a:solidFill>
                <a:latin typeface="Work Sans"/>
                <a:ea typeface="Work Sans"/>
                <a:cs typeface="Work Sans"/>
                <a:sym typeface="Work Sans"/>
              </a:rPr>
              <a:t>Elite </a:t>
            </a:r>
            <a:endParaRPr b="1" i="0" sz="2400" u="none" cap="none" strike="noStrike">
              <a:solidFill>
                <a:srgbClr val="3F3F3F"/>
              </a:solidFill>
              <a:latin typeface="Work Sans"/>
              <a:ea typeface="Work Sans"/>
              <a:cs typeface="Work Sans"/>
              <a:sym typeface="Work Sans"/>
            </a:endParaRPr>
          </a:p>
        </p:txBody>
      </p:sp>
      <p:sp>
        <p:nvSpPr>
          <p:cNvPr id="94" name="Google Shape;94;p1"/>
          <p:cNvSpPr txBox="1"/>
          <p:nvPr/>
        </p:nvSpPr>
        <p:spPr>
          <a:xfrm>
            <a:off x="810600" y="768625"/>
            <a:ext cx="2384400" cy="351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chemeClr val="dk1"/>
                </a:solidFill>
                <a:latin typeface="Calibri"/>
                <a:ea typeface="Calibri"/>
                <a:cs typeface="Calibri"/>
                <a:sym typeface="Calibri"/>
              </a:rPr>
              <a:t>Trimestre </a:t>
            </a:r>
            <a:r>
              <a:rPr lang="en-US" sz="1100">
                <a:solidFill>
                  <a:schemeClr val="dk1"/>
                </a:solidFill>
                <a:highlight>
                  <a:srgbClr val="FFFF00"/>
                </a:highlight>
                <a:latin typeface="Calibri"/>
                <a:ea typeface="Calibri"/>
                <a:cs typeface="Calibri"/>
                <a:sym typeface="Calibri"/>
              </a:rPr>
              <a:t>III</a:t>
            </a:r>
            <a:endParaRPr b="0" i="0" sz="1100" u="none" cap="none" strike="noStrike">
              <a:solidFill>
                <a:schemeClr val="dk1"/>
              </a:solidFill>
              <a:highlight>
                <a:srgbClr val="FFFF00"/>
              </a:highlight>
              <a:latin typeface="Calibri"/>
              <a:ea typeface="Calibri"/>
              <a:cs typeface="Calibri"/>
              <a:sym typeface="Calibri"/>
            </a:endParaRPr>
          </a:p>
        </p:txBody>
      </p:sp>
      <p:pic>
        <p:nvPicPr>
          <p:cNvPr descr="elite_games_isotipo" id="95" name="Google Shape;95;p1"/>
          <p:cNvPicPr preferRelativeResize="0"/>
          <p:nvPr/>
        </p:nvPicPr>
        <p:blipFill rotWithShape="1">
          <a:blip r:embed="rId4">
            <a:alphaModFix/>
          </a:blip>
          <a:srcRect b="0" l="28084" r="26451" t="0"/>
          <a:stretch/>
        </p:blipFill>
        <p:spPr>
          <a:xfrm>
            <a:off x="9179075" y="3754175"/>
            <a:ext cx="2070600" cy="2411629"/>
          </a:xfrm>
          <a:prstGeom prst="rect">
            <a:avLst/>
          </a:prstGeom>
          <a:noFill/>
          <a:ln>
            <a:noFill/>
          </a:ln>
        </p:spPr>
      </p:pic>
      <p:sp>
        <p:nvSpPr>
          <p:cNvPr id="96" name="Google Shape;96;p1"/>
          <p:cNvSpPr txBox="1"/>
          <p:nvPr/>
        </p:nvSpPr>
        <p:spPr>
          <a:xfrm>
            <a:off x="963675" y="4559788"/>
            <a:ext cx="45285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000">
                <a:solidFill>
                  <a:srgbClr val="3F3F3F"/>
                </a:solidFill>
                <a:latin typeface="Work Sans"/>
                <a:ea typeface="Work Sans"/>
                <a:cs typeface="Work Sans"/>
                <a:sym typeface="Work Sans"/>
              </a:rPr>
              <a:t>Miguel Angel Galvis Corredor</a:t>
            </a:r>
            <a:endParaRPr b="1" sz="2000">
              <a:solidFill>
                <a:srgbClr val="3F3F3F"/>
              </a:solidFill>
              <a:latin typeface="Work Sans"/>
              <a:ea typeface="Work Sans"/>
              <a:cs typeface="Work Sans"/>
              <a:sym typeface="Work Sans"/>
            </a:endParaRPr>
          </a:p>
          <a:p>
            <a:pPr indent="0" lvl="0" marL="0" rtl="0" algn="l">
              <a:spcBef>
                <a:spcPts val="0"/>
              </a:spcBef>
              <a:spcAft>
                <a:spcPts val="0"/>
              </a:spcAft>
              <a:buNone/>
            </a:pPr>
            <a:r>
              <a:rPr b="1" lang="en-US" sz="2000">
                <a:solidFill>
                  <a:srgbClr val="3F3F3F"/>
                </a:solidFill>
                <a:latin typeface="Work Sans"/>
                <a:ea typeface="Work Sans"/>
                <a:cs typeface="Work Sans"/>
                <a:sym typeface="Work Sans"/>
              </a:rPr>
              <a:t>Santiago Palacio Pertuz</a:t>
            </a:r>
            <a:endParaRPr sz="2000"/>
          </a:p>
        </p:txBody>
      </p:sp>
      <p:sp>
        <p:nvSpPr>
          <p:cNvPr id="97" name="Google Shape;97;p1"/>
          <p:cNvSpPr txBox="1"/>
          <p:nvPr/>
        </p:nvSpPr>
        <p:spPr>
          <a:xfrm>
            <a:off x="1898275" y="1810525"/>
            <a:ext cx="3594000" cy="184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8000">
                <a:solidFill>
                  <a:srgbClr val="3F3F3F"/>
                </a:solidFill>
                <a:latin typeface="Work Sans"/>
                <a:ea typeface="Work Sans"/>
                <a:cs typeface="Work Sans"/>
                <a:sym typeface="Work Sans"/>
              </a:rPr>
              <a:t>Games</a:t>
            </a:r>
            <a:endParaRPr b="1" sz="4000">
              <a:solidFill>
                <a:srgbClr val="3F3F3F"/>
              </a:solidFill>
              <a:latin typeface="Work Sans"/>
              <a:ea typeface="Work Sans"/>
              <a:cs typeface="Work Sans"/>
              <a:sym typeface="Work Sans"/>
            </a:endParaRPr>
          </a:p>
          <a:p>
            <a:pPr indent="0" lvl="0" marL="0" rtl="0" algn="l">
              <a:spcBef>
                <a:spcPts val="0"/>
              </a:spcBef>
              <a:spcAft>
                <a:spcPts val="0"/>
              </a:spcAft>
              <a:buNone/>
            </a:pPr>
            <a:r>
              <a:t/>
            </a:r>
            <a:endParaRPr b="1" sz="2800">
              <a:solidFill>
                <a:srgbClr val="3F3F3F"/>
              </a:solidFill>
              <a:latin typeface="Work Sans"/>
              <a:ea typeface="Work Sans"/>
              <a:cs typeface="Work Sans"/>
              <a:sym typeface="Work San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1" name="Shape 101"/>
        <p:cNvGrpSpPr/>
        <p:nvPr/>
      </p:nvGrpSpPr>
      <p:grpSpPr>
        <a:xfrm>
          <a:off x="0" y="0"/>
          <a:ext cx="0" cy="0"/>
          <a:chOff x="0" y="0"/>
          <a:chExt cx="0" cy="0"/>
        </a:xfrm>
      </p:grpSpPr>
      <p:sp>
        <p:nvSpPr>
          <p:cNvPr id="102" name="Google Shape;102;p2"/>
          <p:cNvSpPr txBox="1"/>
          <p:nvPr/>
        </p:nvSpPr>
        <p:spPr>
          <a:xfrm>
            <a:off x="3359841" y="2459243"/>
            <a:ext cx="5472300" cy="1939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lt1"/>
              </a:buClr>
              <a:buSzPts val="6000"/>
              <a:buFont typeface="Work Sans"/>
              <a:buNone/>
            </a:pPr>
            <a:r>
              <a:rPr b="1" i="0" lang="en-US" sz="6000" u="none" cap="none" strike="noStrike">
                <a:solidFill>
                  <a:schemeClr val="lt1"/>
                </a:solidFill>
                <a:latin typeface="Work Sans"/>
                <a:ea typeface="Work Sans"/>
                <a:cs typeface="Work Sans"/>
                <a:sym typeface="Work Sans"/>
              </a:rPr>
              <a:t>Objetivo general</a:t>
            </a:r>
            <a:endParaRPr b="1" i="0" sz="7200" u="none" cap="none" strike="noStrike">
              <a:solidFill>
                <a:schemeClr val="lt1"/>
              </a:solidFill>
              <a:latin typeface="Work Sans"/>
              <a:ea typeface="Work Sans"/>
              <a:cs typeface="Work Sans"/>
              <a:sym typeface="Work Sans"/>
            </a:endParaRPr>
          </a:p>
        </p:txBody>
      </p:sp>
      <p:cxnSp>
        <p:nvCxnSpPr>
          <p:cNvPr id="103" name="Google Shape;103;p2"/>
          <p:cNvCxnSpPr/>
          <p:nvPr/>
        </p:nvCxnSpPr>
        <p:spPr>
          <a:xfrm>
            <a:off x="3574285" y="4384108"/>
            <a:ext cx="5257800" cy="0"/>
          </a:xfrm>
          <a:prstGeom prst="straightConnector1">
            <a:avLst/>
          </a:prstGeom>
          <a:noFill/>
          <a:ln cap="flat" cmpd="sng" w="12700">
            <a:solidFill>
              <a:schemeClr val="lt1"/>
            </a:solidFill>
            <a:prstDash val="solid"/>
            <a:miter lim="80"/>
            <a:headEnd len="sm" w="sm" type="none"/>
            <a:tailEnd len="sm" w="sm" type="none"/>
          </a:ln>
        </p:spPr>
      </p:cxn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3"/>
          <p:cNvSpPr txBox="1"/>
          <p:nvPr/>
        </p:nvSpPr>
        <p:spPr>
          <a:xfrm>
            <a:off x="3604050" y="437375"/>
            <a:ext cx="4983900" cy="203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6000"/>
              <a:buFont typeface="Arial"/>
              <a:buNone/>
            </a:pPr>
            <a:r>
              <a:rPr b="1" i="0" lang="en-US" sz="6000" u="none" cap="none" strike="noStrike">
                <a:solidFill>
                  <a:schemeClr val="dk1"/>
                </a:solidFill>
                <a:latin typeface="Work Sans"/>
                <a:ea typeface="Work Sans"/>
                <a:cs typeface="Work Sans"/>
                <a:sym typeface="Work Sans"/>
              </a:rPr>
              <a:t>Objetivo general</a:t>
            </a:r>
            <a:endParaRPr b="1" i="0" sz="7200" u="none" cap="none" strike="noStrike">
              <a:solidFill>
                <a:schemeClr val="dk1"/>
              </a:solidFill>
              <a:latin typeface="Work Sans"/>
              <a:ea typeface="Work Sans"/>
              <a:cs typeface="Work Sans"/>
              <a:sym typeface="Work Sans"/>
            </a:endParaRPr>
          </a:p>
        </p:txBody>
      </p:sp>
      <p:sp>
        <p:nvSpPr>
          <p:cNvPr id="110" name="Google Shape;110;p3"/>
          <p:cNvSpPr txBox="1"/>
          <p:nvPr/>
        </p:nvSpPr>
        <p:spPr>
          <a:xfrm>
            <a:off x="2019150" y="2811975"/>
            <a:ext cx="8153700" cy="2418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100"/>
              </a:spcBef>
              <a:spcAft>
                <a:spcPts val="1100"/>
              </a:spcAft>
              <a:buClr>
                <a:srgbClr val="000000"/>
              </a:buClr>
              <a:buSzPts val="2150"/>
              <a:buFont typeface="Arial"/>
              <a:buNone/>
            </a:pPr>
            <a:r>
              <a:rPr lang="en-US" sz="2150">
                <a:solidFill>
                  <a:schemeClr val="dk1"/>
                </a:solidFill>
              </a:rPr>
              <a:t>Desarrollar un sistema de información web para la gestión y comercialización de videojuegos digitales de PlayStation, Xbox y PC, que integre un catálogo de productos, comparación de precios, carrito de compras y un sistema de pagos seguros, con el fin de centralizar y optimizar el proceso de compra para los usuarios. </a:t>
            </a:r>
            <a:r>
              <a:rPr lang="en-US" sz="2150">
                <a:solidFill>
                  <a:schemeClr val="dk1"/>
                </a:solidFill>
              </a:rPr>
              <a:t> </a:t>
            </a:r>
            <a:endParaRPr b="0" i="0" sz="2150" u="none" cap="none" strike="noStrike">
              <a:solidFill>
                <a:schemeClr val="dk1"/>
              </a:solidFill>
              <a:latin typeface="Arial"/>
              <a:ea typeface="Arial"/>
              <a:cs typeface="Arial"/>
              <a:sym typeface="Arial"/>
            </a:endParaRPr>
          </a:p>
        </p:txBody>
      </p:sp>
      <p:cxnSp>
        <p:nvCxnSpPr>
          <p:cNvPr id="111" name="Google Shape;111;p3"/>
          <p:cNvCxnSpPr/>
          <p:nvPr/>
        </p:nvCxnSpPr>
        <p:spPr>
          <a:xfrm>
            <a:off x="3467110" y="2539858"/>
            <a:ext cx="5257800" cy="0"/>
          </a:xfrm>
          <a:prstGeom prst="straightConnector1">
            <a:avLst/>
          </a:prstGeom>
          <a:noFill/>
          <a:ln cap="flat" cmpd="sng" w="12700">
            <a:solidFill>
              <a:schemeClr val="dk1"/>
            </a:solidFill>
            <a:prstDash val="solid"/>
            <a:miter lim="80"/>
            <a:headEnd len="sm" w="sm" type="none"/>
            <a:tailEnd len="sm" w="sm" type="none"/>
          </a:ln>
        </p:spPr>
      </p:cxn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15" name="Shape 115"/>
        <p:cNvGrpSpPr/>
        <p:nvPr/>
      </p:nvGrpSpPr>
      <p:grpSpPr>
        <a:xfrm>
          <a:off x="0" y="0"/>
          <a:ext cx="0" cy="0"/>
          <a:chOff x="0" y="0"/>
          <a:chExt cx="0" cy="0"/>
        </a:xfrm>
      </p:grpSpPr>
      <p:sp>
        <p:nvSpPr>
          <p:cNvPr id="116" name="Google Shape;116;p4"/>
          <p:cNvSpPr txBox="1"/>
          <p:nvPr/>
        </p:nvSpPr>
        <p:spPr>
          <a:xfrm>
            <a:off x="3359841" y="2460618"/>
            <a:ext cx="5472300" cy="1939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lt1"/>
              </a:buClr>
              <a:buSzPts val="6000"/>
              <a:buFont typeface="Work Sans"/>
              <a:buNone/>
            </a:pPr>
            <a:r>
              <a:rPr b="1" i="0" lang="en-US" sz="6000" u="none" cap="none" strike="noStrike">
                <a:solidFill>
                  <a:schemeClr val="lt1"/>
                </a:solidFill>
                <a:latin typeface="Work Sans"/>
                <a:ea typeface="Work Sans"/>
                <a:cs typeface="Work Sans"/>
                <a:sym typeface="Work Sans"/>
              </a:rPr>
              <a:t>Objetivo Especifico</a:t>
            </a:r>
            <a:endParaRPr b="1" i="0" sz="6000" u="none" cap="none" strike="noStrike">
              <a:solidFill>
                <a:schemeClr val="lt1"/>
              </a:solidFill>
              <a:latin typeface="Work Sans"/>
              <a:ea typeface="Work Sans"/>
              <a:cs typeface="Work Sans"/>
              <a:sym typeface="Work Sans"/>
            </a:endParaRPr>
          </a:p>
        </p:txBody>
      </p:sp>
      <p:cxnSp>
        <p:nvCxnSpPr>
          <p:cNvPr id="117" name="Google Shape;117;p4"/>
          <p:cNvCxnSpPr/>
          <p:nvPr/>
        </p:nvCxnSpPr>
        <p:spPr>
          <a:xfrm>
            <a:off x="3574285" y="4385483"/>
            <a:ext cx="5257800" cy="0"/>
          </a:xfrm>
          <a:prstGeom prst="straightConnector1">
            <a:avLst/>
          </a:prstGeom>
          <a:noFill/>
          <a:ln cap="flat" cmpd="sng" w="12700">
            <a:solidFill>
              <a:schemeClr val="lt1"/>
            </a:solidFill>
            <a:prstDash val="solid"/>
            <a:miter lim="8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5"/>
          <p:cNvSpPr txBox="1"/>
          <p:nvPr/>
        </p:nvSpPr>
        <p:spPr>
          <a:xfrm>
            <a:off x="3451328" y="534838"/>
            <a:ext cx="4983900" cy="203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6000"/>
              <a:buFont typeface="Arial"/>
              <a:buNone/>
            </a:pPr>
            <a:r>
              <a:rPr b="1" i="0" lang="en-US" sz="6000" u="none" cap="none" strike="noStrike">
                <a:solidFill>
                  <a:schemeClr val="dk1"/>
                </a:solidFill>
                <a:latin typeface="Work Sans"/>
                <a:ea typeface="Work Sans"/>
                <a:cs typeface="Work Sans"/>
                <a:sym typeface="Work Sans"/>
              </a:rPr>
              <a:t>Objetivo Especifico</a:t>
            </a:r>
            <a:endParaRPr b="1" i="0" sz="6000" u="none" cap="none" strike="noStrike">
              <a:solidFill>
                <a:schemeClr val="dk1"/>
              </a:solidFill>
              <a:latin typeface="Work Sans"/>
              <a:ea typeface="Work Sans"/>
              <a:cs typeface="Work Sans"/>
              <a:sym typeface="Work Sans"/>
            </a:endParaRPr>
          </a:p>
        </p:txBody>
      </p:sp>
      <p:sp>
        <p:nvSpPr>
          <p:cNvPr id="124" name="Google Shape;124;p5"/>
          <p:cNvSpPr txBox="1"/>
          <p:nvPr/>
        </p:nvSpPr>
        <p:spPr>
          <a:xfrm>
            <a:off x="1834828" y="2757643"/>
            <a:ext cx="8522400" cy="3565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2200"/>
              </a:spcBef>
              <a:spcAft>
                <a:spcPts val="0"/>
              </a:spcAft>
              <a:buClr>
                <a:schemeClr val="dk1"/>
              </a:buClr>
              <a:buSzPts val="1100"/>
              <a:buFont typeface="Arial"/>
              <a:buNone/>
            </a:pPr>
            <a:r>
              <a:rPr lang="en-US" sz="1700">
                <a:solidFill>
                  <a:schemeClr val="dk1"/>
                </a:solidFill>
              </a:rPr>
              <a:t>Desarrollar un módulo de gestión del catálogo que permita registrar, actualizar, organizar y visualizar los videojuegos digitales para PlayStation, Xbox y PC, incluyendo su información, precio e imágenes.</a:t>
            </a:r>
            <a:endParaRPr sz="1700">
              <a:solidFill>
                <a:schemeClr val="dk1"/>
              </a:solidFill>
            </a:endParaRPr>
          </a:p>
          <a:p>
            <a:pPr indent="0" lvl="0" marL="0" rtl="0" algn="l">
              <a:lnSpc>
                <a:spcPct val="115000"/>
              </a:lnSpc>
              <a:spcBef>
                <a:spcPts val="2200"/>
              </a:spcBef>
              <a:spcAft>
                <a:spcPts val="0"/>
              </a:spcAft>
              <a:buClr>
                <a:schemeClr val="dk1"/>
              </a:buClr>
              <a:buSzPts val="1100"/>
              <a:buFont typeface="Arial"/>
              <a:buNone/>
            </a:pPr>
            <a:r>
              <a:rPr lang="en-US" sz="1700">
                <a:solidFill>
                  <a:schemeClr val="dk1"/>
                </a:solidFill>
              </a:rPr>
              <a:t>Implementar un módulo de ventas y pagos que permita a los usuarios realizar la compra de videojuegos digitales mediante un proceso seguro, ágil y confiable, utilizando métodos de pago integrados en la plataforma.</a:t>
            </a:r>
            <a:endParaRPr sz="1700">
              <a:solidFill>
                <a:schemeClr val="dk1"/>
              </a:solidFill>
            </a:endParaRPr>
          </a:p>
          <a:p>
            <a:pPr indent="0" lvl="0" marL="0" rtl="0" algn="l">
              <a:lnSpc>
                <a:spcPct val="115000"/>
              </a:lnSpc>
              <a:spcBef>
                <a:spcPts val="2200"/>
              </a:spcBef>
              <a:spcAft>
                <a:spcPts val="0"/>
              </a:spcAft>
              <a:buClr>
                <a:schemeClr val="dk1"/>
              </a:buClr>
              <a:buSzPts val="1100"/>
              <a:buFont typeface="Arial"/>
              <a:buNone/>
            </a:pPr>
            <a:r>
              <a:rPr lang="en-US" sz="1700">
                <a:solidFill>
                  <a:schemeClr val="dk1"/>
                </a:solidFill>
              </a:rPr>
              <a:t>Desarrollar un módulo de carrito de compras que permita a los usuarios agregar, modificar, eliminar y revisar los videojuegos seleccionados antes de confirmar la compra.</a:t>
            </a:r>
            <a:endParaRPr sz="1700">
              <a:solidFill>
                <a:schemeClr val="dk1"/>
              </a:solidFill>
            </a:endParaRPr>
          </a:p>
          <a:p>
            <a:pPr indent="0" lvl="0" marL="0" marR="0" rtl="0" algn="l">
              <a:lnSpc>
                <a:spcPct val="115000"/>
              </a:lnSpc>
              <a:spcBef>
                <a:spcPts val="2200"/>
              </a:spcBef>
              <a:spcAft>
                <a:spcPts val="0"/>
              </a:spcAft>
              <a:buClr>
                <a:srgbClr val="000000"/>
              </a:buClr>
              <a:buSzPts val="1600"/>
              <a:buFont typeface="Arial"/>
              <a:buNone/>
            </a:pPr>
            <a:r>
              <a:t/>
            </a:r>
            <a:endParaRPr sz="1600">
              <a:solidFill>
                <a:schemeClr val="dk1"/>
              </a:solidFill>
            </a:endParaRPr>
          </a:p>
          <a:p>
            <a:pPr indent="0" lvl="0" marL="0" marR="0" rtl="0" algn="l">
              <a:lnSpc>
                <a:spcPct val="115000"/>
              </a:lnSpc>
              <a:spcBef>
                <a:spcPts val="2200"/>
              </a:spcBef>
              <a:spcAft>
                <a:spcPts val="1100"/>
              </a:spcAft>
              <a:buClr>
                <a:srgbClr val="000000"/>
              </a:buClr>
              <a:buSzPts val="1600"/>
              <a:buFont typeface="Arial"/>
              <a:buNone/>
            </a:pPr>
            <a:r>
              <a:t/>
            </a:r>
            <a:endParaRPr b="0" i="0" sz="1600" u="none" cap="none" strike="noStrike">
              <a:solidFill>
                <a:schemeClr val="dk1"/>
              </a:solidFill>
              <a:latin typeface="Arial"/>
              <a:ea typeface="Arial"/>
              <a:cs typeface="Arial"/>
              <a:sym typeface="Arial"/>
            </a:endParaRPr>
          </a:p>
        </p:txBody>
      </p:sp>
      <p:cxnSp>
        <p:nvCxnSpPr>
          <p:cNvPr id="125" name="Google Shape;125;p5"/>
          <p:cNvCxnSpPr/>
          <p:nvPr/>
        </p:nvCxnSpPr>
        <p:spPr>
          <a:xfrm>
            <a:off x="3177863" y="2563456"/>
            <a:ext cx="5257800" cy="0"/>
          </a:xfrm>
          <a:prstGeom prst="straightConnector1">
            <a:avLst/>
          </a:prstGeom>
          <a:noFill/>
          <a:ln cap="flat" cmpd="sng" w="12700">
            <a:solidFill>
              <a:schemeClr val="dk1"/>
            </a:solidFill>
            <a:prstDash val="solid"/>
            <a:miter lim="80"/>
            <a:headEnd len="sm" w="sm" type="none"/>
            <a:tailEnd len="sm" w="sm" type="none"/>
          </a:ln>
        </p:spPr>
      </p:cxn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9" name="Shape 129"/>
        <p:cNvGrpSpPr/>
        <p:nvPr/>
      </p:nvGrpSpPr>
      <p:grpSpPr>
        <a:xfrm>
          <a:off x="0" y="0"/>
          <a:ext cx="0" cy="0"/>
          <a:chOff x="0" y="0"/>
          <a:chExt cx="0" cy="0"/>
        </a:xfrm>
      </p:grpSpPr>
      <p:sp>
        <p:nvSpPr>
          <p:cNvPr id="130" name="Google Shape;130;p6"/>
          <p:cNvSpPr txBox="1"/>
          <p:nvPr/>
        </p:nvSpPr>
        <p:spPr>
          <a:xfrm>
            <a:off x="2060700" y="2536200"/>
            <a:ext cx="8070600" cy="1785600"/>
          </a:xfrm>
          <a:prstGeom prst="rect">
            <a:avLst/>
          </a:prstGeom>
          <a:noFill/>
          <a:ln>
            <a:noFill/>
          </a:ln>
        </p:spPr>
        <p:txBody>
          <a:bodyPr anchorCtr="0" anchor="t" bIns="45700" lIns="91425" spcFirstLastPara="1" rIns="91425" wrap="square" tIns="45700">
            <a:spAutoFit/>
          </a:bodyPr>
          <a:lstStyle/>
          <a:p>
            <a:pPr indent="0" lvl="0" marL="0" rtl="0" algn="ctr">
              <a:spcBef>
                <a:spcPts val="0"/>
              </a:spcBef>
              <a:spcAft>
                <a:spcPts val="0"/>
              </a:spcAft>
              <a:buClr>
                <a:schemeClr val="lt1"/>
              </a:buClr>
              <a:buSzPts val="6000"/>
              <a:buFont typeface="Work Sans"/>
              <a:buNone/>
            </a:pPr>
            <a:r>
              <a:rPr b="1" lang="en-US" sz="4600">
                <a:solidFill>
                  <a:schemeClr val="lt1"/>
                </a:solidFill>
                <a:latin typeface="Work Sans"/>
                <a:ea typeface="Work Sans"/>
                <a:cs typeface="Work Sans"/>
                <a:sym typeface="Work Sans"/>
              </a:rPr>
              <a:t>Modelo De negocios</a:t>
            </a:r>
            <a:endParaRPr b="1" sz="4600">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chemeClr val="lt1"/>
              </a:buClr>
              <a:buSzPts val="6000"/>
              <a:buFont typeface="Work Sans"/>
              <a:buNone/>
            </a:pPr>
            <a:r>
              <a:t/>
            </a:r>
            <a:endParaRPr b="1" sz="3200">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chemeClr val="lt1"/>
              </a:buClr>
              <a:buSzPts val="6000"/>
              <a:buFont typeface="Work Sans"/>
              <a:buNone/>
            </a:pPr>
            <a:r>
              <a:t/>
            </a:r>
            <a:endParaRPr b="1" i="0" sz="3200" u="none" cap="none" strike="noStrike">
              <a:solidFill>
                <a:schemeClr val="lt1"/>
              </a:solidFill>
              <a:latin typeface="Work Sans"/>
              <a:ea typeface="Work Sans"/>
              <a:cs typeface="Work Sans"/>
              <a:sym typeface="Work Sans"/>
            </a:endParaRPr>
          </a:p>
        </p:txBody>
      </p:sp>
      <p:cxnSp>
        <p:nvCxnSpPr>
          <p:cNvPr id="131" name="Google Shape;131;p6"/>
          <p:cNvCxnSpPr/>
          <p:nvPr/>
        </p:nvCxnSpPr>
        <p:spPr>
          <a:xfrm>
            <a:off x="3467110" y="3429008"/>
            <a:ext cx="5257800" cy="0"/>
          </a:xfrm>
          <a:prstGeom prst="straightConnector1">
            <a:avLst/>
          </a:prstGeom>
          <a:noFill/>
          <a:ln cap="flat" cmpd="sng" w="12700">
            <a:solidFill>
              <a:schemeClr val="lt1"/>
            </a:solidFill>
            <a:prstDash val="solid"/>
            <a:miter lim="80"/>
            <a:headEnd len="sm" w="sm" type="none"/>
            <a:tailEnd len="sm" w="sm" type="none"/>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g3f1c4674ac0_0_7"/>
          <p:cNvSpPr txBox="1"/>
          <p:nvPr/>
        </p:nvSpPr>
        <p:spPr>
          <a:xfrm>
            <a:off x="3451325" y="534846"/>
            <a:ext cx="4983900" cy="2678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Clr>
                <a:schemeClr val="lt1"/>
              </a:buClr>
              <a:buSzPts val="6000"/>
              <a:buFont typeface="Work Sans"/>
              <a:buNone/>
            </a:pPr>
            <a:r>
              <a:rPr b="1" lang="en-US" sz="5100">
                <a:solidFill>
                  <a:schemeClr val="dk1"/>
                </a:solidFill>
                <a:latin typeface="Work Sans"/>
                <a:ea typeface="Work Sans"/>
                <a:cs typeface="Work Sans"/>
                <a:sym typeface="Work Sans"/>
              </a:rPr>
              <a:t>Modelo De negocios</a:t>
            </a:r>
            <a:endParaRPr b="1" sz="5100">
              <a:solidFill>
                <a:schemeClr val="dk1"/>
              </a:solidFill>
              <a:latin typeface="Work Sans"/>
              <a:ea typeface="Work Sans"/>
              <a:cs typeface="Work Sans"/>
              <a:sym typeface="Work Sans"/>
            </a:endParaRPr>
          </a:p>
          <a:p>
            <a:pPr indent="0" lvl="0" marL="0" marR="0" rtl="0" algn="ctr">
              <a:lnSpc>
                <a:spcPct val="100000"/>
              </a:lnSpc>
              <a:spcBef>
                <a:spcPts val="0"/>
              </a:spcBef>
              <a:spcAft>
                <a:spcPts val="0"/>
              </a:spcAft>
              <a:buClr>
                <a:srgbClr val="000000"/>
              </a:buClr>
              <a:buSzPts val="6000"/>
              <a:buFont typeface="Arial"/>
              <a:buNone/>
            </a:pPr>
            <a:r>
              <a:t/>
            </a:r>
            <a:endParaRPr b="1" sz="6000">
              <a:solidFill>
                <a:srgbClr val="00AD00"/>
              </a:solidFill>
              <a:latin typeface="Work Sans"/>
              <a:ea typeface="Work Sans"/>
              <a:cs typeface="Work Sans"/>
              <a:sym typeface="Work Sans"/>
            </a:endParaRPr>
          </a:p>
        </p:txBody>
      </p:sp>
      <p:sp>
        <p:nvSpPr>
          <p:cNvPr id="138" name="Google Shape;138;g3f1c4674ac0_0_7"/>
          <p:cNvSpPr txBox="1"/>
          <p:nvPr/>
        </p:nvSpPr>
        <p:spPr>
          <a:xfrm>
            <a:off x="1834803" y="2315393"/>
            <a:ext cx="8522400" cy="356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000"/>
              <a:t>Elite Games operará como una plataforma de venta de videojuegos digitales. Para obtener los productos, las claves digitales se comprarán a distribuidores mayoristas autorizados, como Xsolla, Exertis Ztorm, Genba Digital o Smile, empresas que suministran códigos oficiales para PlayStation, Xbox y PC a negocios dedicados a la reventa. Posteriormente, estas claves se ofrecerán en la plataforma con un margen de ganancia. Una vez el cliente realice el pago, el sistema entregará automáticamente la clave digital para que pueda canjearla en la plataforma correspondiente. De esta manera, el modelo de negocio genera ingresos a través de la diferencia entre el precio de compra al distribuidor y el precio de venta al cliente final. </a:t>
            </a:r>
            <a:endParaRPr sz="2000"/>
          </a:p>
        </p:txBody>
      </p:sp>
      <p:cxnSp>
        <p:nvCxnSpPr>
          <p:cNvPr id="139" name="Google Shape;139;g3f1c4674ac0_0_7"/>
          <p:cNvCxnSpPr/>
          <p:nvPr/>
        </p:nvCxnSpPr>
        <p:spPr>
          <a:xfrm>
            <a:off x="3177413" y="2315406"/>
            <a:ext cx="5257800" cy="0"/>
          </a:xfrm>
          <a:prstGeom prst="straightConnector1">
            <a:avLst/>
          </a:prstGeom>
          <a:noFill/>
          <a:ln cap="flat" cmpd="sng" w="12700">
            <a:solidFill>
              <a:schemeClr val="dk1"/>
            </a:solidFill>
            <a:prstDash val="solid"/>
            <a:miter lim="80"/>
            <a:headEnd len="sm" w="sm" type="none"/>
            <a:tailEnd len="sm" w="sm" type="none"/>
          </a:ln>
        </p:spPr>
      </p:cxnSp>
      <p:sp>
        <p:nvSpPr>
          <p:cNvPr id="140" name="Google Shape;140;g3f1c4674ac0_0_7"/>
          <p:cNvSpPr txBox="1"/>
          <p:nvPr/>
        </p:nvSpPr>
        <p:spPr>
          <a:xfrm>
            <a:off x="3330000" y="5804575"/>
            <a:ext cx="15294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600" u="sng">
                <a:solidFill>
                  <a:schemeClr val="hlink"/>
                </a:solidFill>
                <a:hlinkClick r:id="rId3"/>
              </a:rPr>
              <a:t>Exertis Ztorm</a:t>
            </a:r>
            <a:r>
              <a:rPr lang="en-US" sz="1600">
                <a:solidFill>
                  <a:schemeClr val="dk1"/>
                </a:solidFill>
              </a:rPr>
              <a:t> </a:t>
            </a:r>
            <a:endParaRPr sz="1900"/>
          </a:p>
        </p:txBody>
      </p:sp>
      <p:sp>
        <p:nvSpPr>
          <p:cNvPr id="141" name="Google Shape;141;g3f1c4674ac0_0_7"/>
          <p:cNvSpPr txBox="1"/>
          <p:nvPr/>
        </p:nvSpPr>
        <p:spPr>
          <a:xfrm flipH="1">
            <a:off x="1834800" y="5804575"/>
            <a:ext cx="15294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600" u="sng">
                <a:solidFill>
                  <a:schemeClr val="hlink"/>
                </a:solidFill>
                <a:hlinkClick r:id="rId4"/>
              </a:rPr>
              <a:t>Genba Digital</a:t>
            </a:r>
            <a:r>
              <a:rPr lang="en-US" sz="1600">
                <a:solidFill>
                  <a:schemeClr val="dk1"/>
                </a:solidFill>
              </a:rPr>
              <a:t> </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45" name="Shape 145"/>
        <p:cNvGrpSpPr/>
        <p:nvPr/>
      </p:nvGrpSpPr>
      <p:grpSpPr>
        <a:xfrm>
          <a:off x="0" y="0"/>
          <a:ext cx="0" cy="0"/>
          <a:chOff x="0" y="0"/>
          <a:chExt cx="0" cy="0"/>
        </a:xfrm>
      </p:grpSpPr>
      <p:sp>
        <p:nvSpPr>
          <p:cNvPr id="146" name="Google Shape;146;g3f1c4674ac0_0_2"/>
          <p:cNvSpPr txBox="1"/>
          <p:nvPr/>
        </p:nvSpPr>
        <p:spPr>
          <a:xfrm>
            <a:off x="2060700" y="2536200"/>
            <a:ext cx="8070600" cy="1785600"/>
          </a:xfrm>
          <a:prstGeom prst="rect">
            <a:avLst/>
          </a:prstGeom>
          <a:noFill/>
          <a:ln>
            <a:noFill/>
          </a:ln>
        </p:spPr>
        <p:txBody>
          <a:bodyPr anchorCtr="0" anchor="t" bIns="45700" lIns="91425" spcFirstLastPara="1" rIns="91425" wrap="square" tIns="45700">
            <a:spAutoFit/>
          </a:bodyPr>
          <a:lstStyle/>
          <a:p>
            <a:pPr indent="0" lvl="0" marL="0" rtl="0" algn="ctr">
              <a:spcBef>
                <a:spcPts val="0"/>
              </a:spcBef>
              <a:spcAft>
                <a:spcPts val="0"/>
              </a:spcAft>
              <a:buClr>
                <a:schemeClr val="lt1"/>
              </a:buClr>
              <a:buSzPts val="6000"/>
              <a:buFont typeface="Work Sans"/>
              <a:buNone/>
            </a:pPr>
            <a:r>
              <a:rPr b="1" lang="en-US" sz="4600">
                <a:solidFill>
                  <a:schemeClr val="lt1"/>
                </a:solidFill>
                <a:latin typeface="Work Sans"/>
                <a:ea typeface="Work Sans"/>
                <a:cs typeface="Work Sans"/>
                <a:sym typeface="Work Sans"/>
              </a:rPr>
              <a:t>Diseño Base De Datos</a:t>
            </a:r>
            <a:endParaRPr b="1" sz="4600">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chemeClr val="lt1"/>
              </a:buClr>
              <a:buSzPts val="6000"/>
              <a:buFont typeface="Work Sans"/>
              <a:buNone/>
            </a:pPr>
            <a:r>
              <a:t/>
            </a:r>
            <a:endParaRPr b="1" sz="3200">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chemeClr val="lt1"/>
              </a:buClr>
              <a:buSzPts val="6000"/>
              <a:buFont typeface="Work Sans"/>
              <a:buNone/>
            </a:pPr>
            <a:r>
              <a:t/>
            </a:r>
            <a:endParaRPr b="1" i="0" sz="3200" u="none" cap="none" strike="noStrike">
              <a:solidFill>
                <a:schemeClr val="lt1"/>
              </a:solidFill>
              <a:latin typeface="Work Sans"/>
              <a:ea typeface="Work Sans"/>
              <a:cs typeface="Work Sans"/>
              <a:sym typeface="Work Sans"/>
            </a:endParaRPr>
          </a:p>
        </p:txBody>
      </p:sp>
      <p:cxnSp>
        <p:nvCxnSpPr>
          <p:cNvPr id="147" name="Google Shape;147;g3f1c4674ac0_0_2"/>
          <p:cNvCxnSpPr/>
          <p:nvPr/>
        </p:nvCxnSpPr>
        <p:spPr>
          <a:xfrm>
            <a:off x="3467110" y="3429008"/>
            <a:ext cx="5257800" cy="0"/>
          </a:xfrm>
          <a:prstGeom prst="straightConnector1">
            <a:avLst/>
          </a:prstGeom>
          <a:noFill/>
          <a:ln cap="flat" cmpd="sng" w="12700">
            <a:solidFill>
              <a:schemeClr val="lt1"/>
            </a:solidFill>
            <a:prstDash val="solid"/>
            <a:miter lim="80"/>
            <a:headEnd len="sm" w="sm" type="none"/>
            <a:tailEnd len="sm" w="sm" type="none"/>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g3ed1c95a546_0_4"/>
          <p:cNvSpPr/>
          <p:nvPr/>
        </p:nvSpPr>
        <p:spPr>
          <a:xfrm>
            <a:off x="44300" y="0"/>
            <a:ext cx="12192000" cy="1196100"/>
          </a:xfrm>
          <a:prstGeom prst="rect">
            <a:avLst/>
          </a:prstGeom>
          <a:solidFill>
            <a:srgbClr val="00AD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lt1"/>
              </a:buClr>
              <a:buSzPts val="6000"/>
              <a:buFont typeface="Work Sans"/>
              <a:buNone/>
            </a:pPr>
            <a:r>
              <a:rPr b="1" lang="en-US" sz="3800">
                <a:solidFill>
                  <a:schemeClr val="lt1"/>
                </a:solidFill>
                <a:latin typeface="Work Sans"/>
                <a:ea typeface="Work Sans"/>
                <a:cs typeface="Work Sans"/>
                <a:sym typeface="Work Sans"/>
              </a:rPr>
              <a:t>Modelo entidad </a:t>
            </a:r>
            <a:endParaRPr b="1" sz="3800">
              <a:solidFill>
                <a:schemeClr val="lt1"/>
              </a:solidFill>
              <a:latin typeface="Work Sans"/>
              <a:ea typeface="Work Sans"/>
              <a:cs typeface="Work Sans"/>
              <a:sym typeface="Work Sans"/>
            </a:endParaRPr>
          </a:p>
          <a:p>
            <a:pPr indent="0" lvl="0" marL="0" rtl="0" algn="ctr">
              <a:spcBef>
                <a:spcPts val="0"/>
              </a:spcBef>
              <a:spcAft>
                <a:spcPts val="0"/>
              </a:spcAft>
              <a:buClr>
                <a:schemeClr val="lt1"/>
              </a:buClr>
              <a:buSzPts val="6000"/>
              <a:buFont typeface="Work Sans"/>
              <a:buNone/>
            </a:pPr>
            <a:r>
              <a:rPr b="1" lang="en-US" sz="3800">
                <a:solidFill>
                  <a:schemeClr val="lt1"/>
                </a:solidFill>
                <a:latin typeface="Work Sans"/>
                <a:ea typeface="Work Sans"/>
                <a:cs typeface="Work Sans"/>
                <a:sym typeface="Work Sans"/>
              </a:rPr>
              <a:t>relación crow's foot</a:t>
            </a:r>
            <a:endParaRPr sz="600">
              <a:latin typeface="Calibri"/>
              <a:ea typeface="Calibri"/>
              <a:cs typeface="Calibri"/>
              <a:sym typeface="Calibri"/>
            </a:endParaRPr>
          </a:p>
        </p:txBody>
      </p:sp>
      <p:pic>
        <p:nvPicPr>
          <p:cNvPr id="154" name="Google Shape;154;g3ed1c95a546_0_4" title="diagrama_er_videojuegos-.png"/>
          <p:cNvPicPr preferRelativeResize="0"/>
          <p:nvPr/>
        </p:nvPicPr>
        <p:blipFill>
          <a:blip r:embed="rId3">
            <a:alphaModFix/>
          </a:blip>
          <a:stretch>
            <a:fillRect/>
          </a:stretch>
        </p:blipFill>
        <p:spPr>
          <a:xfrm>
            <a:off x="588000" y="1269125"/>
            <a:ext cx="11104594" cy="535709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g3ed1c95a546_0_25"/>
          <p:cNvSpPr/>
          <p:nvPr/>
        </p:nvSpPr>
        <p:spPr>
          <a:xfrm>
            <a:off x="44300" y="0"/>
            <a:ext cx="12192000" cy="1196100"/>
          </a:xfrm>
          <a:prstGeom prst="rect">
            <a:avLst/>
          </a:prstGeom>
          <a:solidFill>
            <a:srgbClr val="00AD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US" sz="3800">
                <a:solidFill>
                  <a:schemeClr val="lt1"/>
                </a:solidFill>
                <a:latin typeface="Work Sans"/>
                <a:ea typeface="Work Sans"/>
                <a:cs typeface="Work Sans"/>
                <a:sym typeface="Work Sans"/>
              </a:rPr>
              <a:t>Modelo Relacional</a:t>
            </a:r>
            <a:endParaRPr sz="600">
              <a:latin typeface="Calibri"/>
              <a:ea typeface="Calibri"/>
              <a:cs typeface="Calibri"/>
              <a:sym typeface="Calibri"/>
            </a:endParaRPr>
          </a:p>
        </p:txBody>
      </p:sp>
      <p:pic>
        <p:nvPicPr>
          <p:cNvPr id="161" name="Google Shape;161;g3ed1c95a546_0_25" title="Tabla-Worbench.png"/>
          <p:cNvPicPr preferRelativeResize="0"/>
          <p:nvPr/>
        </p:nvPicPr>
        <p:blipFill rotWithShape="1">
          <a:blip r:embed="rId3">
            <a:alphaModFix/>
          </a:blip>
          <a:srcRect b="30168" l="0" r="0" t="0"/>
          <a:stretch/>
        </p:blipFill>
        <p:spPr>
          <a:xfrm>
            <a:off x="98350" y="1196100"/>
            <a:ext cx="12083901" cy="587672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pic>
        <p:nvPicPr>
          <p:cNvPr id="167" name="Google Shape;167;g3ed1c95a546_0_16"/>
          <p:cNvPicPr preferRelativeResize="0"/>
          <p:nvPr/>
        </p:nvPicPr>
        <p:blipFill>
          <a:blip r:embed="rId3">
            <a:alphaModFix/>
          </a:blip>
          <a:stretch>
            <a:fillRect/>
          </a:stretch>
        </p:blipFill>
        <p:spPr>
          <a:xfrm>
            <a:off x="600538" y="784050"/>
            <a:ext cx="10990924" cy="5673525"/>
          </a:xfrm>
          <a:prstGeom prst="rect">
            <a:avLst/>
          </a:prstGeom>
          <a:noFill/>
          <a:ln>
            <a:noFill/>
          </a:ln>
        </p:spPr>
      </p:pic>
      <p:sp>
        <p:nvSpPr>
          <p:cNvPr id="168" name="Google Shape;168;g3ed1c95a546_0_16"/>
          <p:cNvSpPr/>
          <p:nvPr/>
        </p:nvSpPr>
        <p:spPr>
          <a:xfrm>
            <a:off x="5325" y="20675"/>
            <a:ext cx="12192000" cy="763500"/>
          </a:xfrm>
          <a:prstGeom prst="rect">
            <a:avLst/>
          </a:prstGeom>
          <a:solidFill>
            <a:srgbClr val="00AD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lt1"/>
              </a:buClr>
              <a:buSzPts val="6000"/>
              <a:buFont typeface="Work Sans"/>
              <a:buNone/>
            </a:pPr>
            <a:r>
              <a:rPr b="1" lang="en-US" sz="2600">
                <a:solidFill>
                  <a:schemeClr val="lt1"/>
                </a:solidFill>
                <a:latin typeface="Work Sans"/>
                <a:ea typeface="Work Sans"/>
                <a:cs typeface="Work Sans"/>
                <a:sym typeface="Work Sans"/>
              </a:rPr>
              <a:t>Normalización</a:t>
            </a:r>
            <a:endParaRPr b="1" sz="3800">
              <a:solidFill>
                <a:schemeClr val="lt1"/>
              </a:solidFill>
              <a:latin typeface="Work Sans"/>
              <a:ea typeface="Work Sans"/>
              <a:cs typeface="Work Sans"/>
              <a:sym typeface="Work Sans"/>
            </a:endParaRPr>
          </a:p>
        </p:txBody>
      </p:sp>
      <p:sp>
        <p:nvSpPr>
          <p:cNvPr id="169" name="Google Shape;169;g3ed1c95a546_0_16"/>
          <p:cNvSpPr txBox="1"/>
          <p:nvPr/>
        </p:nvSpPr>
        <p:spPr>
          <a:xfrm>
            <a:off x="1250400" y="6457575"/>
            <a:ext cx="96912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u="sng">
                <a:solidFill>
                  <a:schemeClr val="hlink"/>
                </a:solidFill>
                <a:hlinkClick r:id="rId4"/>
              </a:rPr>
              <a:t>https://docs.google.com/spreadsheets/d/1Oyy3ILBiDJ2r4bdSo6RhQRwF61AOLGKPQPRrxvV5mBs/edit?usp=sharing</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g3ed3806e173_0_10"/>
          <p:cNvSpPr/>
          <p:nvPr/>
        </p:nvSpPr>
        <p:spPr>
          <a:xfrm>
            <a:off x="44300" y="0"/>
            <a:ext cx="12192000" cy="1196100"/>
          </a:xfrm>
          <a:prstGeom prst="rect">
            <a:avLst/>
          </a:prstGeom>
          <a:solidFill>
            <a:srgbClr val="00AD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lt1"/>
              </a:buClr>
              <a:buSzPts val="6000"/>
              <a:buFont typeface="Work Sans"/>
              <a:buNone/>
            </a:pPr>
            <a:r>
              <a:rPr b="1" lang="en-US" sz="4400">
                <a:solidFill>
                  <a:schemeClr val="lt1"/>
                </a:solidFill>
                <a:latin typeface="Work Sans"/>
                <a:ea typeface="Work Sans"/>
                <a:cs typeface="Work Sans"/>
                <a:sym typeface="Work Sans"/>
              </a:rPr>
              <a:t>Diccionario de datos</a:t>
            </a:r>
            <a:endParaRPr b="1" sz="5600">
              <a:solidFill>
                <a:schemeClr val="lt1"/>
              </a:solidFill>
              <a:latin typeface="Work Sans"/>
              <a:ea typeface="Work Sans"/>
              <a:cs typeface="Work Sans"/>
              <a:sym typeface="Work Sans"/>
            </a:endParaRPr>
          </a:p>
          <a:p>
            <a:pPr indent="0" lvl="0" marL="0" rtl="0" algn="ctr">
              <a:spcBef>
                <a:spcPts val="0"/>
              </a:spcBef>
              <a:spcAft>
                <a:spcPts val="0"/>
              </a:spcAft>
              <a:buNone/>
            </a:pPr>
            <a:r>
              <a:t/>
            </a:r>
            <a:endParaRPr b="1" sz="3800">
              <a:solidFill>
                <a:schemeClr val="lt1"/>
              </a:solidFill>
              <a:latin typeface="Work Sans"/>
              <a:ea typeface="Work Sans"/>
              <a:cs typeface="Work Sans"/>
              <a:sym typeface="Work Sans"/>
            </a:endParaRPr>
          </a:p>
        </p:txBody>
      </p:sp>
      <p:sp>
        <p:nvSpPr>
          <p:cNvPr id="176" name="Google Shape;176;g3ed3806e173_0_10"/>
          <p:cNvSpPr txBox="1"/>
          <p:nvPr/>
        </p:nvSpPr>
        <p:spPr>
          <a:xfrm>
            <a:off x="3524250" y="6000825"/>
            <a:ext cx="5143500" cy="757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800" u="sng">
                <a:solidFill>
                  <a:schemeClr val="hlink"/>
                </a:solidFill>
                <a:latin typeface="Calibri"/>
                <a:ea typeface="Calibri"/>
                <a:cs typeface="Calibri"/>
                <a:sym typeface="Calibri"/>
                <a:hlinkClick r:id="rId3"/>
              </a:rPr>
              <a:t>Diccionario de Datos - </a:t>
            </a:r>
            <a:r>
              <a:rPr lang="en-US" sz="2800" u="sng">
                <a:solidFill>
                  <a:schemeClr val="hlink"/>
                </a:solidFill>
                <a:latin typeface="Calibri"/>
                <a:ea typeface="Calibri"/>
                <a:cs typeface="Calibri"/>
                <a:sym typeface="Calibri"/>
                <a:hlinkClick r:id="rId4"/>
              </a:rPr>
              <a:t>Elite Games</a:t>
            </a:r>
            <a:endParaRPr sz="2800">
              <a:solidFill>
                <a:schemeClr val="dk1"/>
              </a:solidFill>
              <a:latin typeface="Calibri"/>
              <a:ea typeface="Calibri"/>
              <a:cs typeface="Calibri"/>
              <a:sym typeface="Calibri"/>
            </a:endParaRPr>
          </a:p>
        </p:txBody>
      </p:sp>
      <p:pic>
        <p:nvPicPr>
          <p:cNvPr id="177" name="Google Shape;177;g3ed3806e173_0_10"/>
          <p:cNvPicPr preferRelativeResize="0"/>
          <p:nvPr/>
        </p:nvPicPr>
        <p:blipFill rotWithShape="1">
          <a:blip r:embed="rId5">
            <a:alphaModFix/>
          </a:blip>
          <a:srcRect b="5437" l="6876" r="9582" t="0"/>
          <a:stretch/>
        </p:blipFill>
        <p:spPr>
          <a:xfrm>
            <a:off x="3698875" y="1348500"/>
            <a:ext cx="3937000" cy="42553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1" name="Shape 181"/>
        <p:cNvGrpSpPr/>
        <p:nvPr/>
      </p:nvGrpSpPr>
      <p:grpSpPr>
        <a:xfrm>
          <a:off x="0" y="0"/>
          <a:ext cx="0" cy="0"/>
          <a:chOff x="0" y="0"/>
          <a:chExt cx="0" cy="0"/>
        </a:xfrm>
      </p:grpSpPr>
      <p:sp>
        <p:nvSpPr>
          <p:cNvPr id="182" name="Google Shape;182;g3f279f7552c_0_0"/>
          <p:cNvSpPr txBox="1"/>
          <p:nvPr/>
        </p:nvSpPr>
        <p:spPr>
          <a:xfrm>
            <a:off x="2060700" y="2963050"/>
            <a:ext cx="8070600" cy="2478000"/>
          </a:xfrm>
          <a:prstGeom prst="rect">
            <a:avLst/>
          </a:prstGeom>
          <a:noFill/>
          <a:ln>
            <a:noFill/>
          </a:ln>
        </p:spPr>
        <p:txBody>
          <a:bodyPr anchorCtr="0" anchor="t" bIns="45700" lIns="91425" spcFirstLastPara="1" rIns="91425" wrap="square" tIns="45700">
            <a:spAutoFit/>
          </a:bodyPr>
          <a:lstStyle/>
          <a:p>
            <a:pPr indent="0" lvl="0" marL="0" rtl="0" algn="ctr">
              <a:spcBef>
                <a:spcPts val="0"/>
              </a:spcBef>
              <a:spcAft>
                <a:spcPts val="0"/>
              </a:spcAft>
              <a:buClr>
                <a:schemeClr val="lt1"/>
              </a:buClr>
              <a:buSzPts val="6000"/>
              <a:buFont typeface="Work Sans"/>
              <a:buNone/>
            </a:pPr>
            <a:r>
              <a:rPr b="1" lang="en-US" sz="5000">
                <a:solidFill>
                  <a:schemeClr val="lt1"/>
                </a:solidFill>
                <a:latin typeface="Work Sans"/>
                <a:ea typeface="Work Sans"/>
                <a:cs typeface="Work Sans"/>
                <a:sym typeface="Work Sans"/>
              </a:rPr>
              <a:t>Diseño y arquitectura</a:t>
            </a:r>
            <a:endParaRPr b="1" sz="6200">
              <a:solidFill>
                <a:schemeClr val="lt1"/>
              </a:solidFill>
              <a:latin typeface="Work Sans"/>
              <a:ea typeface="Work Sans"/>
              <a:cs typeface="Work Sans"/>
              <a:sym typeface="Work Sans"/>
            </a:endParaRPr>
          </a:p>
          <a:p>
            <a:pPr indent="0" lvl="0" marL="0" rtl="0" algn="ctr">
              <a:spcBef>
                <a:spcPts val="0"/>
              </a:spcBef>
              <a:spcAft>
                <a:spcPts val="0"/>
              </a:spcAft>
              <a:buClr>
                <a:schemeClr val="lt1"/>
              </a:buClr>
              <a:buSzPts val="6000"/>
              <a:buFont typeface="Work Sans"/>
              <a:buNone/>
            </a:pPr>
            <a:r>
              <a:t/>
            </a:r>
            <a:endParaRPr b="1" sz="4100">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chemeClr val="lt1"/>
              </a:buClr>
              <a:buSzPts val="6000"/>
              <a:buFont typeface="Work Sans"/>
              <a:buNone/>
            </a:pPr>
            <a:r>
              <a:t/>
            </a:r>
            <a:endParaRPr b="1" sz="3200">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chemeClr val="lt1"/>
              </a:buClr>
              <a:buSzPts val="6000"/>
              <a:buFont typeface="Work Sans"/>
              <a:buNone/>
            </a:pPr>
            <a:r>
              <a:t/>
            </a:r>
            <a:endParaRPr b="1" i="0" sz="3200" u="none" cap="none" strike="noStrike">
              <a:solidFill>
                <a:schemeClr val="lt1"/>
              </a:solidFill>
              <a:latin typeface="Work Sans"/>
              <a:ea typeface="Work Sans"/>
              <a:cs typeface="Work Sans"/>
              <a:sym typeface="Work Sans"/>
            </a:endParaRPr>
          </a:p>
        </p:txBody>
      </p:sp>
      <p:cxnSp>
        <p:nvCxnSpPr>
          <p:cNvPr id="183" name="Google Shape;183;g3f279f7552c_0_0"/>
          <p:cNvCxnSpPr/>
          <p:nvPr/>
        </p:nvCxnSpPr>
        <p:spPr>
          <a:xfrm>
            <a:off x="3467110" y="3835208"/>
            <a:ext cx="5257800" cy="0"/>
          </a:xfrm>
          <a:prstGeom prst="straightConnector1">
            <a:avLst/>
          </a:prstGeom>
          <a:noFill/>
          <a:ln cap="flat" cmpd="sng" w="12700">
            <a:solidFill>
              <a:schemeClr val="lt1"/>
            </a:solidFill>
            <a:prstDash val="solid"/>
            <a:miter lim="80"/>
            <a:headEnd len="sm" w="sm" type="none"/>
            <a:tailEnd len="sm" w="sm" type="none"/>
          </a:ln>
        </p:spPr>
      </p:cxn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g3f279f7552c_0_5"/>
          <p:cNvSpPr/>
          <p:nvPr/>
        </p:nvSpPr>
        <p:spPr>
          <a:xfrm>
            <a:off x="5325" y="20675"/>
            <a:ext cx="12192000" cy="763500"/>
          </a:xfrm>
          <a:prstGeom prst="rect">
            <a:avLst/>
          </a:prstGeom>
          <a:solidFill>
            <a:srgbClr val="00AD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lt1"/>
              </a:buClr>
              <a:buSzPts val="6000"/>
              <a:buFont typeface="Work Sans"/>
              <a:buNone/>
            </a:pPr>
            <a:r>
              <a:rPr b="1" lang="en-US" sz="2600">
                <a:solidFill>
                  <a:schemeClr val="lt1"/>
                </a:solidFill>
                <a:latin typeface="Work Sans"/>
                <a:ea typeface="Work Sans"/>
                <a:cs typeface="Work Sans"/>
                <a:sym typeface="Work Sans"/>
              </a:rPr>
              <a:t>Diagramas de clase UML</a:t>
            </a:r>
            <a:endParaRPr b="1" sz="3800">
              <a:solidFill>
                <a:schemeClr val="lt1"/>
              </a:solidFill>
              <a:latin typeface="Work Sans"/>
              <a:ea typeface="Work Sans"/>
              <a:cs typeface="Work Sans"/>
              <a:sym typeface="Work Sans"/>
            </a:endParaRPr>
          </a:p>
        </p:txBody>
      </p:sp>
      <p:pic>
        <p:nvPicPr>
          <p:cNvPr id="190" name="Google Shape;190;g3f279f7552c_0_5"/>
          <p:cNvPicPr preferRelativeResize="0"/>
          <p:nvPr/>
        </p:nvPicPr>
        <p:blipFill rotWithShape="1">
          <a:blip r:embed="rId3">
            <a:alphaModFix/>
          </a:blip>
          <a:srcRect b="2213" l="1371" r="0" t="1131"/>
          <a:stretch/>
        </p:blipFill>
        <p:spPr>
          <a:xfrm>
            <a:off x="3345375" y="1359050"/>
            <a:ext cx="5589650" cy="49948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g3f279f7552c_0_19"/>
          <p:cNvSpPr/>
          <p:nvPr/>
        </p:nvSpPr>
        <p:spPr>
          <a:xfrm>
            <a:off x="5325" y="20675"/>
            <a:ext cx="12192000" cy="763500"/>
          </a:xfrm>
          <a:prstGeom prst="rect">
            <a:avLst/>
          </a:prstGeom>
          <a:solidFill>
            <a:srgbClr val="00AD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lt1"/>
              </a:buClr>
              <a:buSzPts val="6000"/>
              <a:buFont typeface="Work Sans"/>
              <a:buNone/>
            </a:pPr>
            <a:r>
              <a:rPr b="1" lang="en-US" sz="2600">
                <a:solidFill>
                  <a:schemeClr val="lt1"/>
                </a:solidFill>
                <a:latin typeface="Work Sans"/>
                <a:ea typeface="Work Sans"/>
                <a:cs typeface="Work Sans"/>
                <a:sym typeface="Work Sans"/>
              </a:rPr>
              <a:t>Diagramas De De despliegue UML</a:t>
            </a:r>
            <a:endParaRPr b="1" sz="3800">
              <a:solidFill>
                <a:schemeClr val="lt1"/>
              </a:solidFill>
              <a:latin typeface="Work Sans"/>
              <a:ea typeface="Work Sans"/>
              <a:cs typeface="Work Sans"/>
              <a:sym typeface="Work Sans"/>
            </a:endParaRPr>
          </a:p>
        </p:txBody>
      </p:sp>
      <p:pic>
        <p:nvPicPr>
          <p:cNvPr id="197" name="Google Shape;197;g3f279f7552c_0_19"/>
          <p:cNvPicPr preferRelativeResize="0"/>
          <p:nvPr/>
        </p:nvPicPr>
        <p:blipFill>
          <a:blip r:embed="rId3">
            <a:alphaModFix/>
          </a:blip>
          <a:stretch>
            <a:fillRect/>
          </a:stretch>
        </p:blipFill>
        <p:spPr>
          <a:xfrm>
            <a:off x="2397112" y="944575"/>
            <a:ext cx="7397775" cy="58660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01" name="Shape 201"/>
        <p:cNvGrpSpPr/>
        <p:nvPr/>
      </p:nvGrpSpPr>
      <p:grpSpPr>
        <a:xfrm>
          <a:off x="0" y="0"/>
          <a:ext cx="0" cy="0"/>
          <a:chOff x="0" y="0"/>
          <a:chExt cx="0" cy="0"/>
        </a:xfrm>
      </p:grpSpPr>
      <p:sp>
        <p:nvSpPr>
          <p:cNvPr id="202" name="Google Shape;202;g3ed1c95a546_0_29"/>
          <p:cNvSpPr txBox="1"/>
          <p:nvPr/>
        </p:nvSpPr>
        <p:spPr>
          <a:xfrm>
            <a:off x="2060700" y="2963050"/>
            <a:ext cx="8070600" cy="2478000"/>
          </a:xfrm>
          <a:prstGeom prst="rect">
            <a:avLst/>
          </a:prstGeom>
          <a:noFill/>
          <a:ln>
            <a:noFill/>
          </a:ln>
        </p:spPr>
        <p:txBody>
          <a:bodyPr anchorCtr="0" anchor="t" bIns="45700" lIns="91425" spcFirstLastPara="1" rIns="91425" wrap="square" tIns="45700">
            <a:spAutoFit/>
          </a:bodyPr>
          <a:lstStyle/>
          <a:p>
            <a:pPr indent="0" lvl="0" marL="0" rtl="0" algn="ctr">
              <a:spcBef>
                <a:spcPts val="0"/>
              </a:spcBef>
              <a:spcAft>
                <a:spcPts val="0"/>
              </a:spcAft>
              <a:buClr>
                <a:schemeClr val="lt1"/>
              </a:buClr>
              <a:buSzPts val="6000"/>
              <a:buFont typeface="Work Sans"/>
              <a:buNone/>
            </a:pPr>
            <a:r>
              <a:rPr b="1" lang="en-US" sz="5000">
                <a:solidFill>
                  <a:schemeClr val="lt1"/>
                </a:solidFill>
                <a:latin typeface="Work Sans"/>
                <a:ea typeface="Work Sans"/>
                <a:cs typeface="Work Sans"/>
                <a:sym typeface="Work Sans"/>
              </a:rPr>
              <a:t>Diseño de interfaces</a:t>
            </a:r>
            <a:endParaRPr b="1" sz="6200">
              <a:solidFill>
                <a:schemeClr val="lt1"/>
              </a:solidFill>
              <a:latin typeface="Work Sans"/>
              <a:ea typeface="Work Sans"/>
              <a:cs typeface="Work Sans"/>
              <a:sym typeface="Work Sans"/>
            </a:endParaRPr>
          </a:p>
          <a:p>
            <a:pPr indent="0" lvl="0" marL="0" rtl="0" algn="ctr">
              <a:spcBef>
                <a:spcPts val="0"/>
              </a:spcBef>
              <a:spcAft>
                <a:spcPts val="0"/>
              </a:spcAft>
              <a:buClr>
                <a:schemeClr val="lt1"/>
              </a:buClr>
              <a:buSzPts val="6000"/>
              <a:buFont typeface="Work Sans"/>
              <a:buNone/>
            </a:pPr>
            <a:r>
              <a:t/>
            </a:r>
            <a:endParaRPr b="1" sz="4100">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chemeClr val="lt1"/>
              </a:buClr>
              <a:buSzPts val="6000"/>
              <a:buFont typeface="Work Sans"/>
              <a:buNone/>
            </a:pPr>
            <a:r>
              <a:t/>
            </a:r>
            <a:endParaRPr b="1" sz="3200">
              <a:solidFill>
                <a:schemeClr val="lt1"/>
              </a:solidFill>
              <a:latin typeface="Work Sans"/>
              <a:ea typeface="Work Sans"/>
              <a:cs typeface="Work Sans"/>
              <a:sym typeface="Work Sans"/>
            </a:endParaRPr>
          </a:p>
          <a:p>
            <a:pPr indent="0" lvl="0" marL="0" marR="0" rtl="0" algn="ctr">
              <a:lnSpc>
                <a:spcPct val="100000"/>
              </a:lnSpc>
              <a:spcBef>
                <a:spcPts val="0"/>
              </a:spcBef>
              <a:spcAft>
                <a:spcPts val="0"/>
              </a:spcAft>
              <a:buClr>
                <a:schemeClr val="lt1"/>
              </a:buClr>
              <a:buSzPts val="6000"/>
              <a:buFont typeface="Work Sans"/>
              <a:buNone/>
            </a:pPr>
            <a:r>
              <a:t/>
            </a:r>
            <a:endParaRPr b="1" i="0" sz="3200" u="none" cap="none" strike="noStrike">
              <a:solidFill>
                <a:schemeClr val="lt1"/>
              </a:solidFill>
              <a:latin typeface="Work Sans"/>
              <a:ea typeface="Work Sans"/>
              <a:cs typeface="Work Sans"/>
              <a:sym typeface="Work Sans"/>
            </a:endParaRPr>
          </a:p>
        </p:txBody>
      </p:sp>
      <p:cxnSp>
        <p:nvCxnSpPr>
          <p:cNvPr id="203" name="Google Shape;203;g3ed1c95a546_0_29"/>
          <p:cNvCxnSpPr/>
          <p:nvPr/>
        </p:nvCxnSpPr>
        <p:spPr>
          <a:xfrm>
            <a:off x="3467110" y="3835208"/>
            <a:ext cx="5257800" cy="0"/>
          </a:xfrm>
          <a:prstGeom prst="straightConnector1">
            <a:avLst/>
          </a:prstGeom>
          <a:noFill/>
          <a:ln cap="flat" cmpd="sng" w="12700">
            <a:solidFill>
              <a:schemeClr val="lt1"/>
            </a:solidFill>
            <a:prstDash val="solid"/>
            <a:miter lim="80"/>
            <a:headEnd len="sm" w="sm" type="none"/>
            <a:tailEnd len="sm" w="sm" type="none"/>
          </a:ln>
        </p:spPr>
      </p:cxn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g3f1c4674ac0_0_24"/>
          <p:cNvSpPr/>
          <p:nvPr/>
        </p:nvSpPr>
        <p:spPr>
          <a:xfrm>
            <a:off x="44300" y="0"/>
            <a:ext cx="12192000" cy="1196100"/>
          </a:xfrm>
          <a:prstGeom prst="rect">
            <a:avLst/>
          </a:prstGeom>
          <a:solidFill>
            <a:srgbClr val="00AD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lt1"/>
              </a:buClr>
              <a:buSzPts val="6000"/>
              <a:buFont typeface="Work Sans"/>
              <a:buNone/>
            </a:pPr>
            <a:r>
              <a:rPr b="1" lang="en-US" sz="4400">
                <a:solidFill>
                  <a:schemeClr val="lt1"/>
                </a:solidFill>
                <a:latin typeface="Work Sans"/>
                <a:ea typeface="Work Sans"/>
                <a:cs typeface="Work Sans"/>
                <a:sym typeface="Work Sans"/>
              </a:rPr>
              <a:t>Pagina Web</a:t>
            </a:r>
            <a:endParaRPr b="1" sz="5600">
              <a:solidFill>
                <a:schemeClr val="lt1"/>
              </a:solidFill>
              <a:latin typeface="Work Sans"/>
              <a:ea typeface="Work Sans"/>
              <a:cs typeface="Work Sans"/>
              <a:sym typeface="Work Sans"/>
            </a:endParaRPr>
          </a:p>
          <a:p>
            <a:pPr indent="0" lvl="0" marL="0" rtl="0" algn="ctr">
              <a:spcBef>
                <a:spcPts val="0"/>
              </a:spcBef>
              <a:spcAft>
                <a:spcPts val="0"/>
              </a:spcAft>
              <a:buNone/>
            </a:pPr>
            <a:r>
              <a:t/>
            </a:r>
            <a:endParaRPr b="1" sz="3800">
              <a:solidFill>
                <a:schemeClr val="lt1"/>
              </a:solidFill>
              <a:latin typeface="Work Sans"/>
              <a:ea typeface="Work Sans"/>
              <a:cs typeface="Work Sans"/>
              <a:sym typeface="Work Sans"/>
            </a:endParaRPr>
          </a:p>
        </p:txBody>
      </p:sp>
      <p:pic>
        <p:nvPicPr>
          <p:cNvPr id="210" name="Google Shape;210;g3f1c4674ac0_0_24"/>
          <p:cNvPicPr preferRelativeResize="0"/>
          <p:nvPr/>
        </p:nvPicPr>
        <p:blipFill rotWithShape="1">
          <a:blip r:embed="rId3">
            <a:alphaModFix/>
          </a:blip>
          <a:srcRect b="0" l="2650" r="-3395" t="0"/>
          <a:stretch/>
        </p:blipFill>
        <p:spPr>
          <a:xfrm>
            <a:off x="776900" y="1784300"/>
            <a:ext cx="11251574" cy="5073700"/>
          </a:xfrm>
          <a:prstGeom prst="rect">
            <a:avLst/>
          </a:prstGeom>
          <a:noFill/>
          <a:ln>
            <a:noFill/>
          </a:ln>
        </p:spPr>
      </p:pic>
      <p:sp>
        <p:nvSpPr>
          <p:cNvPr id="211" name="Google Shape;211;g3f1c4674ac0_0_24"/>
          <p:cNvSpPr txBox="1"/>
          <p:nvPr/>
        </p:nvSpPr>
        <p:spPr>
          <a:xfrm>
            <a:off x="4351350" y="1196100"/>
            <a:ext cx="38046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000" u="sng">
                <a:solidFill>
                  <a:schemeClr val="hlink"/>
                </a:solidFill>
                <a:hlinkClick r:id="rId4"/>
              </a:rPr>
              <a:t>Elite Games — Iniciar sesión</a:t>
            </a:r>
            <a:r>
              <a:rPr lang="en-US" sz="2000">
                <a:solidFill>
                  <a:schemeClr val="dk1"/>
                </a:solidFill>
              </a:rPr>
              <a:t> </a:t>
            </a:r>
            <a:endParaRPr sz="2300"/>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15" name="Shape 215"/>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2026-05-29T01:17:26Z</dcterms:created>
  <dc:creator>Jorge Enrique Pedraza Sanchez</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y fmtid="{D5CDD505-2E9C-101B-9397-08002B2CF9AE}" pid="9" name="ICV">
    <vt:lpwstr>A5768C1851C94C43BFE6F60DBBF7045E_13</vt:lpwstr>
  </property>
  <property fmtid="{D5CDD505-2E9C-101B-9397-08002B2CF9AE}" pid="10" name="KSOProductBuildVer">
    <vt:lpwstr>3082-12.1.0.26372</vt:lpwstr>
  </property>
</Properties>
</file>