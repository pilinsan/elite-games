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embeddedFontLst>
    <p:embeddedFont>
      <p:font typeface="Work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95">
          <p15:clr>
            <a:srgbClr val="A4A3A4"/>
          </p15:clr>
        </p15:guide>
        <p15:guide id="2" pos="3840">
          <p15:clr>
            <a:srgbClr val="A4A3A4"/>
          </p15:clr>
        </p15:guide>
        <p15:guide id="3" orient="horz" pos="152">
          <p15:clr>
            <a:srgbClr val="A4A3A4"/>
          </p15:clr>
        </p15:guide>
      </p15:sldGuideLst>
    </p:ext>
    <p:ext uri="GoogleSlidesCustomDataVersion2">
      <go:slidesCustomData xmlns:go="http://customooxmlschemas.google.com/" r:id="rId29" roundtripDataSignature="AMtx7mjEwM+ZQlyBCmevjCDxeVRQfFTS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95" orient="horz"/>
        <p:guide pos="3840"/>
        <p:guide pos="152"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WorkSans-bold.fntdata"/><Relationship Id="rId25" Type="http://schemas.openxmlformats.org/officeDocument/2006/relationships/font" Target="fonts/WorkSans-regular.fntdata"/><Relationship Id="rId28" Type="http://schemas.openxmlformats.org/officeDocument/2006/relationships/font" Target="fonts/WorkSans-boldItalic.fntdata"/><Relationship Id="rId27" Type="http://schemas.openxmlformats.org/officeDocument/2006/relationships/font" Target="fonts/WorkSa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91" name="Google Shape;9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07" name="Google Shape;107;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21" name="Google Shape;121;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1c4674ac0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3f1c4674ac0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35" name="Google Shape;135;g3f1c4674ac0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1c4674ac0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44" name="Google Shape;144;g3f1c4674ac0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d1c95a546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g3ed1c95a546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51" name="Google Shape;151;g3ed1c95a546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d1c95a546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ed1c95a546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58" name="Google Shape;158;g3ed1c95a546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ed1c95a546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ed1c95a546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65" name="Google Shape;165;g3ed1c95a546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d3806e173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ed3806e173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73" name="Google Shape;173;g3ed3806e173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279f7552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80" name="Google Shape;180;g3f279f7552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279f7552c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3f279f7552c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87" name="Google Shape;187;g3f279f7552c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279f7552c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g3f279f7552c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94" name="Google Shape;194;g3f279f7552c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d1c95a546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00" name="Google Shape;200;g3ed1c95a546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1c4674ac0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f1c4674ac0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07" name="Google Shape;207;g3f1c4674ac0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00d7c0ea7_1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3f00d7c0ea7_1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15" name="Google Shape;215;g3f00d7c0ea7_1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21" name="Google Shape;2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 name="Shape 15"/>
        <p:cNvGrpSpPr/>
        <p:nvPr/>
      </p:nvGrpSpPr>
      <p:grpSpPr>
        <a:xfrm>
          <a:off x="0" y="0"/>
          <a:ext cx="0" cy="0"/>
          <a:chOff x="0" y="0"/>
          <a:chExt cx="0" cy="0"/>
        </a:xfrm>
      </p:grpSpPr>
      <p:sp>
        <p:nvSpPr>
          <p:cNvPr id="16" name="Google Shape;1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9" name="Shape 19"/>
        <p:cNvGrpSpPr/>
        <p:nvPr/>
      </p:nvGrpSpPr>
      <p:grpSpPr>
        <a:xfrm>
          <a:off x="0" y="0"/>
          <a:ext cx="0" cy="0"/>
          <a:chOff x="0" y="0"/>
          <a:chExt cx="0" cy="0"/>
        </a:xfrm>
      </p:grpSpPr>
      <p:sp>
        <p:nvSpPr>
          <p:cNvPr id="20" name="Google Shape;20;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5" name="Shape 25"/>
        <p:cNvGrpSpPr/>
        <p:nvPr/>
      </p:nvGrpSpPr>
      <p:grpSpPr>
        <a:xfrm>
          <a:off x="0" y="0"/>
          <a:ext cx="0" cy="0"/>
          <a:chOff x="0" y="0"/>
          <a:chExt cx="0" cy="0"/>
        </a:xfrm>
      </p:grpSpPr>
      <p:sp>
        <p:nvSpPr>
          <p:cNvPr id="26" name="Google Shape;2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1" name="Shape 31"/>
        <p:cNvGrpSpPr/>
        <p:nvPr/>
      </p:nvGrpSpPr>
      <p:grpSpPr>
        <a:xfrm>
          <a:off x="0" y="0"/>
          <a:ext cx="0" cy="0"/>
          <a:chOff x="0" y="0"/>
          <a:chExt cx="0" cy="0"/>
        </a:xfrm>
      </p:grpSpPr>
      <p:sp>
        <p:nvSpPr>
          <p:cNvPr id="32" name="Google Shape;32;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7" name="Shape 37"/>
        <p:cNvGrpSpPr/>
        <p:nvPr/>
      </p:nvGrpSpPr>
      <p:grpSpPr>
        <a:xfrm>
          <a:off x="0" y="0"/>
          <a:ext cx="0" cy="0"/>
          <a:chOff x="0" y="0"/>
          <a:chExt cx="0" cy="0"/>
        </a:xfrm>
      </p:grpSpPr>
      <p:sp>
        <p:nvSpPr>
          <p:cNvPr id="38" name="Google Shape;3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4" name="Shape 44"/>
        <p:cNvGrpSpPr/>
        <p:nvPr/>
      </p:nvGrpSpPr>
      <p:grpSpPr>
        <a:xfrm>
          <a:off x="0" y="0"/>
          <a:ext cx="0" cy="0"/>
          <a:chOff x="0" y="0"/>
          <a:chExt cx="0" cy="0"/>
        </a:xfrm>
      </p:grpSpPr>
      <p:sp>
        <p:nvSpPr>
          <p:cNvPr id="45" name="Google Shape;45;p1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1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3" name="Shape 53"/>
        <p:cNvGrpSpPr/>
        <p:nvPr/>
      </p:nvGrpSpPr>
      <p:grpSpPr>
        <a:xfrm>
          <a:off x="0" y="0"/>
          <a:ext cx="0" cy="0"/>
          <a:chOff x="0" y="0"/>
          <a:chExt cx="0" cy="0"/>
        </a:xfrm>
      </p:grpSpPr>
      <p:sp>
        <p:nvSpPr>
          <p:cNvPr id="54" name="Google Shape;54;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7"/>
          <p:cNvSpPr/>
          <p:nvPr>
            <p:ph idx="2" type="pic"/>
          </p:nvPr>
        </p:nvSpPr>
        <p:spPr>
          <a:xfrm>
            <a:off x="5183188" y="987425"/>
            <a:ext cx="6172200" cy="4873625"/>
          </a:xfrm>
          <a:prstGeom prst="rect">
            <a:avLst/>
          </a:prstGeom>
          <a:noFill/>
          <a:ln>
            <a:noFill/>
          </a:ln>
        </p:spPr>
      </p:sp>
      <p:sp>
        <p:nvSpPr>
          <p:cNvPr id="68" name="Google Shape;68;p1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1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84" name="Shape 84"/>
        <p:cNvGrpSpPr/>
        <p:nvPr/>
      </p:nvGrpSpPr>
      <p:grpSpPr>
        <a:xfrm>
          <a:off x="0" y="0"/>
          <a:ext cx="0" cy="0"/>
          <a:chOff x="0" y="0"/>
          <a:chExt cx="0" cy="0"/>
        </a:xfrm>
      </p:grpSpPr>
      <p:sp>
        <p:nvSpPr>
          <p:cNvPr id="85" name="Google Shape;85;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exertisztorm.com/" TargetMode="External"/><Relationship Id="rId4" Type="http://schemas.openxmlformats.org/officeDocument/2006/relationships/hyperlink" Target="https://genbadigital.com/contac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hyperlink" Target="https://docs.google.com/spreadsheets/d/14NLOcCX_o6Ss0pGryR1-NS0Ec3gp1Sej/edit?gid=815803762#gid=815803762"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hyperlink" Target="https://drive.google.com/file/d/1VmV6iOAPO8oZQOAMNa5xTQMvMxXuB-Xt/view?usp=drive_link"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pilinsan.github.io/Elite-Games/" TargetMode="Externa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github.com/PILINSAN/Elite-Game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sp>
        <p:nvSpPr>
          <p:cNvPr id="93" name="Google Shape;93;p1"/>
          <p:cNvSpPr txBox="1"/>
          <p:nvPr/>
        </p:nvSpPr>
        <p:spPr>
          <a:xfrm>
            <a:off x="1259925" y="1213150"/>
            <a:ext cx="20706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F3F3F"/>
              </a:buClr>
              <a:buSzPts val="5400"/>
              <a:buFont typeface="Work Sans"/>
              <a:buNone/>
            </a:pPr>
            <a:r>
              <a:rPr b="1" i="0" lang="en-US" sz="6400" u="none" cap="none" strike="noStrike">
                <a:solidFill>
                  <a:srgbClr val="3F3F3F"/>
                </a:solidFill>
                <a:latin typeface="Work Sans"/>
                <a:ea typeface="Work Sans"/>
                <a:cs typeface="Work Sans"/>
                <a:sym typeface="Work Sans"/>
              </a:rPr>
              <a:t>Elite </a:t>
            </a:r>
            <a:endParaRPr b="1" i="0" sz="2400" u="none" cap="none" strike="noStrike">
              <a:solidFill>
                <a:srgbClr val="3F3F3F"/>
              </a:solidFill>
              <a:latin typeface="Work Sans"/>
              <a:ea typeface="Work Sans"/>
              <a:cs typeface="Work Sans"/>
              <a:sym typeface="Work Sans"/>
            </a:endParaRPr>
          </a:p>
        </p:txBody>
      </p:sp>
      <p:sp>
        <p:nvSpPr>
          <p:cNvPr id="94" name="Google Shape;94;p1"/>
          <p:cNvSpPr txBox="1"/>
          <p:nvPr/>
        </p:nvSpPr>
        <p:spPr>
          <a:xfrm>
            <a:off x="810600" y="768625"/>
            <a:ext cx="2384400" cy="35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alibri"/>
                <a:ea typeface="Calibri"/>
                <a:cs typeface="Calibri"/>
                <a:sym typeface="Calibri"/>
              </a:rPr>
              <a:t>Trimestre </a:t>
            </a:r>
            <a:r>
              <a:rPr lang="en-US" sz="1100">
                <a:solidFill>
                  <a:schemeClr val="dk1"/>
                </a:solidFill>
                <a:highlight>
                  <a:srgbClr val="FFFF00"/>
                </a:highlight>
                <a:latin typeface="Calibri"/>
                <a:ea typeface="Calibri"/>
                <a:cs typeface="Calibri"/>
                <a:sym typeface="Calibri"/>
              </a:rPr>
              <a:t>III</a:t>
            </a:r>
            <a:endParaRPr b="0" i="0" sz="1100" u="none" cap="none" strike="noStrike">
              <a:solidFill>
                <a:schemeClr val="dk1"/>
              </a:solidFill>
              <a:highlight>
                <a:srgbClr val="FFFF00"/>
              </a:highlight>
              <a:latin typeface="Calibri"/>
              <a:ea typeface="Calibri"/>
              <a:cs typeface="Calibri"/>
              <a:sym typeface="Calibri"/>
            </a:endParaRPr>
          </a:p>
        </p:txBody>
      </p:sp>
      <p:pic>
        <p:nvPicPr>
          <p:cNvPr descr="elite_games_isotipo" id="95" name="Google Shape;95;p1"/>
          <p:cNvPicPr preferRelativeResize="0"/>
          <p:nvPr/>
        </p:nvPicPr>
        <p:blipFill rotWithShape="1">
          <a:blip r:embed="rId4">
            <a:alphaModFix/>
          </a:blip>
          <a:srcRect b="0" l="28084" r="26451" t="0"/>
          <a:stretch/>
        </p:blipFill>
        <p:spPr>
          <a:xfrm>
            <a:off x="9179075" y="3754175"/>
            <a:ext cx="2070600" cy="2411629"/>
          </a:xfrm>
          <a:prstGeom prst="rect">
            <a:avLst/>
          </a:prstGeom>
          <a:noFill/>
          <a:ln>
            <a:noFill/>
          </a:ln>
        </p:spPr>
      </p:pic>
      <p:sp>
        <p:nvSpPr>
          <p:cNvPr id="96" name="Google Shape;96;p1"/>
          <p:cNvSpPr txBox="1"/>
          <p:nvPr/>
        </p:nvSpPr>
        <p:spPr>
          <a:xfrm>
            <a:off x="963675" y="4559788"/>
            <a:ext cx="45285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rgbClr val="3F3F3F"/>
                </a:solidFill>
                <a:latin typeface="Work Sans"/>
                <a:ea typeface="Work Sans"/>
                <a:cs typeface="Work Sans"/>
                <a:sym typeface="Work Sans"/>
              </a:rPr>
              <a:t>Miguel Angel Galvis Corredor</a:t>
            </a:r>
            <a:endParaRPr b="1" sz="2000">
              <a:solidFill>
                <a:srgbClr val="3F3F3F"/>
              </a:solidFill>
              <a:latin typeface="Work Sans"/>
              <a:ea typeface="Work Sans"/>
              <a:cs typeface="Work Sans"/>
              <a:sym typeface="Work Sans"/>
            </a:endParaRPr>
          </a:p>
          <a:p>
            <a:pPr indent="0" lvl="0" marL="0" rtl="0" algn="l">
              <a:spcBef>
                <a:spcPts val="0"/>
              </a:spcBef>
              <a:spcAft>
                <a:spcPts val="0"/>
              </a:spcAft>
              <a:buNone/>
            </a:pPr>
            <a:r>
              <a:rPr b="1" lang="en-US" sz="2000">
                <a:solidFill>
                  <a:srgbClr val="3F3F3F"/>
                </a:solidFill>
                <a:latin typeface="Work Sans"/>
                <a:ea typeface="Work Sans"/>
                <a:cs typeface="Work Sans"/>
                <a:sym typeface="Work Sans"/>
              </a:rPr>
              <a:t>Santiago Palacio Pertuz</a:t>
            </a:r>
            <a:endParaRPr sz="2000"/>
          </a:p>
        </p:txBody>
      </p:sp>
      <p:sp>
        <p:nvSpPr>
          <p:cNvPr id="97" name="Google Shape;97;p1"/>
          <p:cNvSpPr txBox="1"/>
          <p:nvPr/>
        </p:nvSpPr>
        <p:spPr>
          <a:xfrm>
            <a:off x="1898275" y="1810525"/>
            <a:ext cx="35940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8000">
                <a:solidFill>
                  <a:srgbClr val="3F3F3F"/>
                </a:solidFill>
                <a:latin typeface="Work Sans"/>
                <a:ea typeface="Work Sans"/>
                <a:cs typeface="Work Sans"/>
                <a:sym typeface="Work Sans"/>
              </a:rPr>
              <a:t>Games</a:t>
            </a:r>
            <a:endParaRPr b="1" sz="4000">
              <a:solidFill>
                <a:srgbClr val="3F3F3F"/>
              </a:solidFill>
              <a:latin typeface="Work Sans"/>
              <a:ea typeface="Work Sans"/>
              <a:cs typeface="Work Sans"/>
              <a:sym typeface="Work Sans"/>
            </a:endParaRPr>
          </a:p>
          <a:p>
            <a:pPr indent="0" lvl="0" marL="0" rtl="0" algn="l">
              <a:spcBef>
                <a:spcPts val="0"/>
              </a:spcBef>
              <a:spcAft>
                <a:spcPts val="0"/>
              </a:spcAft>
              <a:buNone/>
            </a:pPr>
            <a:r>
              <a:t/>
            </a:r>
            <a:endParaRPr b="1" sz="2800">
              <a:solidFill>
                <a:srgbClr val="3F3F3F"/>
              </a:solidFill>
              <a:latin typeface="Work Sans"/>
              <a:ea typeface="Work Sans"/>
              <a:cs typeface="Work Sans"/>
              <a:sym typeface="Work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p2"/>
          <p:cNvSpPr txBox="1"/>
          <p:nvPr/>
        </p:nvSpPr>
        <p:spPr>
          <a:xfrm>
            <a:off x="3359841" y="2459243"/>
            <a:ext cx="5472300" cy="1939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6000"/>
              <a:buFont typeface="Work Sans"/>
              <a:buNone/>
            </a:pPr>
            <a:r>
              <a:rPr b="1" i="0" lang="en-US" sz="6000" u="none" cap="none" strike="noStrike">
                <a:solidFill>
                  <a:schemeClr val="lt1"/>
                </a:solidFill>
                <a:latin typeface="Work Sans"/>
                <a:ea typeface="Work Sans"/>
                <a:cs typeface="Work Sans"/>
                <a:sym typeface="Work Sans"/>
              </a:rPr>
              <a:t>Objetivo general</a:t>
            </a:r>
            <a:endParaRPr b="1" i="0" sz="7200" u="none" cap="none" strike="noStrike">
              <a:solidFill>
                <a:schemeClr val="lt1"/>
              </a:solidFill>
              <a:latin typeface="Work Sans"/>
              <a:ea typeface="Work Sans"/>
              <a:cs typeface="Work Sans"/>
              <a:sym typeface="Work Sans"/>
            </a:endParaRPr>
          </a:p>
        </p:txBody>
      </p:sp>
      <p:cxnSp>
        <p:nvCxnSpPr>
          <p:cNvPr id="103" name="Google Shape;103;p2"/>
          <p:cNvCxnSpPr/>
          <p:nvPr/>
        </p:nvCxnSpPr>
        <p:spPr>
          <a:xfrm>
            <a:off x="3574285" y="4384108"/>
            <a:ext cx="5257800" cy="0"/>
          </a:xfrm>
          <a:prstGeom prst="straightConnector1">
            <a:avLst/>
          </a:prstGeom>
          <a:noFill/>
          <a:ln cap="flat" cmpd="sng" w="12700">
            <a:solidFill>
              <a:schemeClr val="lt1"/>
            </a:solidFill>
            <a:prstDash val="solid"/>
            <a:miter lim="80"/>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nvSpPr>
        <p:spPr>
          <a:xfrm>
            <a:off x="3604050" y="437375"/>
            <a:ext cx="4983900" cy="203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6000"/>
              <a:buFont typeface="Arial"/>
              <a:buNone/>
            </a:pPr>
            <a:r>
              <a:rPr b="1" i="0" lang="en-US" sz="6000" u="none" cap="none" strike="noStrike">
                <a:solidFill>
                  <a:schemeClr val="dk1"/>
                </a:solidFill>
                <a:latin typeface="Work Sans"/>
                <a:ea typeface="Work Sans"/>
                <a:cs typeface="Work Sans"/>
                <a:sym typeface="Work Sans"/>
              </a:rPr>
              <a:t>Objetivo general</a:t>
            </a:r>
            <a:endParaRPr b="1" i="0" sz="7200" u="none" cap="none" strike="noStrike">
              <a:solidFill>
                <a:schemeClr val="dk1"/>
              </a:solidFill>
              <a:latin typeface="Work Sans"/>
              <a:ea typeface="Work Sans"/>
              <a:cs typeface="Work Sans"/>
              <a:sym typeface="Work Sans"/>
            </a:endParaRPr>
          </a:p>
        </p:txBody>
      </p:sp>
      <p:sp>
        <p:nvSpPr>
          <p:cNvPr id="110" name="Google Shape;110;p3"/>
          <p:cNvSpPr txBox="1"/>
          <p:nvPr/>
        </p:nvSpPr>
        <p:spPr>
          <a:xfrm>
            <a:off x="2019150" y="2811975"/>
            <a:ext cx="8153700" cy="2418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100"/>
              </a:spcBef>
              <a:spcAft>
                <a:spcPts val="1100"/>
              </a:spcAft>
              <a:buClr>
                <a:srgbClr val="000000"/>
              </a:buClr>
              <a:buSzPts val="2150"/>
              <a:buFont typeface="Arial"/>
              <a:buNone/>
            </a:pPr>
            <a:r>
              <a:rPr lang="en-US" sz="2150">
                <a:solidFill>
                  <a:schemeClr val="dk1"/>
                </a:solidFill>
              </a:rPr>
              <a:t>Desarrollar un sistema de información web para la gestión y comercialización de videojuegos digitales de PlayStation, Xbox y PC, que integre un catálogo de productos, comparación de precios, carrito de compras y un sistema de pagos seguros, con el fin de centralizar y optimizar el proceso de compra para los usuarios. </a:t>
            </a:r>
            <a:r>
              <a:rPr lang="en-US" sz="2150">
                <a:solidFill>
                  <a:schemeClr val="dk1"/>
                </a:solidFill>
              </a:rPr>
              <a:t> </a:t>
            </a:r>
            <a:endParaRPr b="0" i="0" sz="2150" u="none" cap="none" strike="noStrike">
              <a:solidFill>
                <a:schemeClr val="dk1"/>
              </a:solidFill>
              <a:latin typeface="Arial"/>
              <a:ea typeface="Arial"/>
              <a:cs typeface="Arial"/>
              <a:sym typeface="Arial"/>
            </a:endParaRPr>
          </a:p>
        </p:txBody>
      </p:sp>
      <p:cxnSp>
        <p:nvCxnSpPr>
          <p:cNvPr id="111" name="Google Shape;111;p3"/>
          <p:cNvCxnSpPr/>
          <p:nvPr/>
        </p:nvCxnSpPr>
        <p:spPr>
          <a:xfrm>
            <a:off x="3467110" y="2539858"/>
            <a:ext cx="5257800" cy="0"/>
          </a:xfrm>
          <a:prstGeom prst="straightConnector1">
            <a:avLst/>
          </a:prstGeom>
          <a:noFill/>
          <a:ln cap="flat" cmpd="sng" w="12700">
            <a:solidFill>
              <a:schemeClr val="dk1"/>
            </a:solidFill>
            <a:prstDash val="solid"/>
            <a:miter lim="80"/>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4"/>
          <p:cNvSpPr txBox="1"/>
          <p:nvPr/>
        </p:nvSpPr>
        <p:spPr>
          <a:xfrm>
            <a:off x="3359841" y="2460618"/>
            <a:ext cx="5472300" cy="1939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6000"/>
              <a:buFont typeface="Work Sans"/>
              <a:buNone/>
            </a:pPr>
            <a:r>
              <a:rPr b="1" i="0" lang="en-US" sz="6000" u="none" cap="none" strike="noStrike">
                <a:solidFill>
                  <a:schemeClr val="lt1"/>
                </a:solidFill>
                <a:latin typeface="Work Sans"/>
                <a:ea typeface="Work Sans"/>
                <a:cs typeface="Work Sans"/>
                <a:sym typeface="Work Sans"/>
              </a:rPr>
              <a:t>Objetivo Especifico</a:t>
            </a:r>
            <a:endParaRPr b="1" i="0" sz="6000" u="none" cap="none" strike="noStrike">
              <a:solidFill>
                <a:schemeClr val="lt1"/>
              </a:solidFill>
              <a:latin typeface="Work Sans"/>
              <a:ea typeface="Work Sans"/>
              <a:cs typeface="Work Sans"/>
              <a:sym typeface="Work Sans"/>
            </a:endParaRPr>
          </a:p>
        </p:txBody>
      </p:sp>
      <p:cxnSp>
        <p:nvCxnSpPr>
          <p:cNvPr id="117" name="Google Shape;117;p4"/>
          <p:cNvCxnSpPr/>
          <p:nvPr/>
        </p:nvCxnSpPr>
        <p:spPr>
          <a:xfrm>
            <a:off x="3574285" y="4385483"/>
            <a:ext cx="5257800" cy="0"/>
          </a:xfrm>
          <a:prstGeom prst="straightConnector1">
            <a:avLst/>
          </a:prstGeom>
          <a:noFill/>
          <a:ln cap="flat" cmpd="sng" w="12700">
            <a:solidFill>
              <a:schemeClr val="lt1"/>
            </a:solidFill>
            <a:prstDash val="solid"/>
            <a:miter lim="80"/>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nvSpPr>
        <p:spPr>
          <a:xfrm>
            <a:off x="3451328" y="534838"/>
            <a:ext cx="4983900" cy="203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6000"/>
              <a:buFont typeface="Arial"/>
              <a:buNone/>
            </a:pPr>
            <a:r>
              <a:rPr b="1" i="0" lang="en-US" sz="6000" u="none" cap="none" strike="noStrike">
                <a:solidFill>
                  <a:schemeClr val="dk1"/>
                </a:solidFill>
                <a:latin typeface="Work Sans"/>
                <a:ea typeface="Work Sans"/>
                <a:cs typeface="Work Sans"/>
                <a:sym typeface="Work Sans"/>
              </a:rPr>
              <a:t>Objetivo Especifico</a:t>
            </a:r>
            <a:endParaRPr b="1" i="0" sz="6000" u="none" cap="none" strike="noStrike">
              <a:solidFill>
                <a:schemeClr val="dk1"/>
              </a:solidFill>
              <a:latin typeface="Work Sans"/>
              <a:ea typeface="Work Sans"/>
              <a:cs typeface="Work Sans"/>
              <a:sym typeface="Work Sans"/>
            </a:endParaRPr>
          </a:p>
        </p:txBody>
      </p:sp>
      <p:sp>
        <p:nvSpPr>
          <p:cNvPr id="124" name="Google Shape;124;p5"/>
          <p:cNvSpPr txBox="1"/>
          <p:nvPr/>
        </p:nvSpPr>
        <p:spPr>
          <a:xfrm>
            <a:off x="1834828" y="2757643"/>
            <a:ext cx="8522400" cy="356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200"/>
              </a:spcBef>
              <a:spcAft>
                <a:spcPts val="0"/>
              </a:spcAft>
              <a:buClr>
                <a:schemeClr val="dk1"/>
              </a:buClr>
              <a:buSzPts val="1100"/>
              <a:buFont typeface="Arial"/>
              <a:buNone/>
            </a:pPr>
            <a:r>
              <a:rPr lang="en-US" sz="1700">
                <a:solidFill>
                  <a:schemeClr val="dk1"/>
                </a:solidFill>
              </a:rPr>
              <a:t>Desarrollar un módulo de gestión del catálogo que permita registrar, actualizar, organizar y visualizar los videojuegos digitales para PlayStation, Xbox y PC, incluyendo su información, precio e imágenes.</a:t>
            </a:r>
            <a:endParaRPr sz="1700">
              <a:solidFill>
                <a:schemeClr val="dk1"/>
              </a:solidFill>
            </a:endParaRPr>
          </a:p>
          <a:p>
            <a:pPr indent="0" lvl="0" marL="0" rtl="0" algn="l">
              <a:lnSpc>
                <a:spcPct val="115000"/>
              </a:lnSpc>
              <a:spcBef>
                <a:spcPts val="2200"/>
              </a:spcBef>
              <a:spcAft>
                <a:spcPts val="0"/>
              </a:spcAft>
              <a:buClr>
                <a:schemeClr val="dk1"/>
              </a:buClr>
              <a:buSzPts val="1100"/>
              <a:buFont typeface="Arial"/>
              <a:buNone/>
            </a:pPr>
            <a:r>
              <a:rPr lang="en-US" sz="1700">
                <a:solidFill>
                  <a:schemeClr val="dk1"/>
                </a:solidFill>
              </a:rPr>
              <a:t>Implementar un módulo de ventas y pagos que permita a los usuarios realizar la compra de videojuegos digitales mediante un proceso seguro, ágil y confiable, utilizando métodos de pago integrados en la plataforma.</a:t>
            </a:r>
            <a:endParaRPr sz="1700">
              <a:solidFill>
                <a:schemeClr val="dk1"/>
              </a:solidFill>
            </a:endParaRPr>
          </a:p>
          <a:p>
            <a:pPr indent="0" lvl="0" marL="0" rtl="0" algn="l">
              <a:lnSpc>
                <a:spcPct val="115000"/>
              </a:lnSpc>
              <a:spcBef>
                <a:spcPts val="2200"/>
              </a:spcBef>
              <a:spcAft>
                <a:spcPts val="0"/>
              </a:spcAft>
              <a:buClr>
                <a:schemeClr val="dk1"/>
              </a:buClr>
              <a:buSzPts val="1100"/>
              <a:buFont typeface="Arial"/>
              <a:buNone/>
            </a:pPr>
            <a:r>
              <a:rPr lang="en-US" sz="1700">
                <a:solidFill>
                  <a:schemeClr val="dk1"/>
                </a:solidFill>
              </a:rPr>
              <a:t>Desarrollar un módulo de carrito de compras que permita a los usuarios agregar, modificar, eliminar y revisar los videojuegos seleccionados antes de confirmar la compra.</a:t>
            </a:r>
            <a:endParaRPr sz="1700">
              <a:solidFill>
                <a:schemeClr val="dk1"/>
              </a:solidFill>
            </a:endParaRPr>
          </a:p>
          <a:p>
            <a:pPr indent="0" lvl="0" marL="0" marR="0" rtl="0" algn="l">
              <a:lnSpc>
                <a:spcPct val="115000"/>
              </a:lnSpc>
              <a:spcBef>
                <a:spcPts val="2200"/>
              </a:spcBef>
              <a:spcAft>
                <a:spcPts val="0"/>
              </a:spcAft>
              <a:buClr>
                <a:srgbClr val="000000"/>
              </a:buClr>
              <a:buSzPts val="1600"/>
              <a:buFont typeface="Arial"/>
              <a:buNone/>
            </a:pPr>
            <a:r>
              <a:t/>
            </a:r>
            <a:endParaRPr sz="1600">
              <a:solidFill>
                <a:schemeClr val="dk1"/>
              </a:solidFill>
            </a:endParaRPr>
          </a:p>
          <a:p>
            <a:pPr indent="0" lvl="0" marL="0" marR="0" rtl="0" algn="l">
              <a:lnSpc>
                <a:spcPct val="115000"/>
              </a:lnSpc>
              <a:spcBef>
                <a:spcPts val="2200"/>
              </a:spcBef>
              <a:spcAft>
                <a:spcPts val="110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cxnSp>
        <p:nvCxnSpPr>
          <p:cNvPr id="125" name="Google Shape;125;p5"/>
          <p:cNvCxnSpPr/>
          <p:nvPr/>
        </p:nvCxnSpPr>
        <p:spPr>
          <a:xfrm>
            <a:off x="3177863" y="2563456"/>
            <a:ext cx="5257800" cy="0"/>
          </a:xfrm>
          <a:prstGeom prst="straightConnector1">
            <a:avLst/>
          </a:prstGeom>
          <a:noFill/>
          <a:ln cap="flat" cmpd="sng" w="12700">
            <a:solidFill>
              <a:schemeClr val="dk1"/>
            </a:solidFill>
            <a:prstDash val="solid"/>
            <a:miter lim="80"/>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 name="Shape 129"/>
        <p:cNvGrpSpPr/>
        <p:nvPr/>
      </p:nvGrpSpPr>
      <p:grpSpPr>
        <a:xfrm>
          <a:off x="0" y="0"/>
          <a:ext cx="0" cy="0"/>
          <a:chOff x="0" y="0"/>
          <a:chExt cx="0" cy="0"/>
        </a:xfrm>
      </p:grpSpPr>
      <p:sp>
        <p:nvSpPr>
          <p:cNvPr id="130" name="Google Shape;130;p6"/>
          <p:cNvSpPr txBox="1"/>
          <p:nvPr/>
        </p:nvSpPr>
        <p:spPr>
          <a:xfrm>
            <a:off x="2060700" y="2536200"/>
            <a:ext cx="8070600" cy="17856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lt1"/>
              </a:buClr>
              <a:buSzPts val="6000"/>
              <a:buFont typeface="Work Sans"/>
              <a:buNone/>
            </a:pPr>
            <a:r>
              <a:rPr b="1" lang="en-US" sz="4600">
                <a:solidFill>
                  <a:schemeClr val="lt1"/>
                </a:solidFill>
                <a:latin typeface="Work Sans"/>
                <a:ea typeface="Work Sans"/>
                <a:cs typeface="Work Sans"/>
                <a:sym typeface="Work Sans"/>
              </a:rPr>
              <a:t>Modelo De negocios</a:t>
            </a:r>
            <a:endParaRPr b="1" sz="4600">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chemeClr val="lt1"/>
              </a:buClr>
              <a:buSzPts val="6000"/>
              <a:buFont typeface="Work Sans"/>
              <a:buNone/>
            </a:pPr>
            <a:r>
              <a:t/>
            </a:r>
            <a:endParaRPr b="1" sz="3200">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chemeClr val="lt1"/>
              </a:buClr>
              <a:buSzPts val="6000"/>
              <a:buFont typeface="Work Sans"/>
              <a:buNone/>
            </a:pPr>
            <a:r>
              <a:t/>
            </a:r>
            <a:endParaRPr b="1" i="0" sz="3200" u="none" cap="none" strike="noStrike">
              <a:solidFill>
                <a:schemeClr val="lt1"/>
              </a:solidFill>
              <a:latin typeface="Work Sans"/>
              <a:ea typeface="Work Sans"/>
              <a:cs typeface="Work Sans"/>
              <a:sym typeface="Work Sans"/>
            </a:endParaRPr>
          </a:p>
        </p:txBody>
      </p:sp>
      <p:cxnSp>
        <p:nvCxnSpPr>
          <p:cNvPr id="131" name="Google Shape;131;p6"/>
          <p:cNvCxnSpPr/>
          <p:nvPr/>
        </p:nvCxnSpPr>
        <p:spPr>
          <a:xfrm>
            <a:off x="3467110" y="3429008"/>
            <a:ext cx="5257800" cy="0"/>
          </a:xfrm>
          <a:prstGeom prst="straightConnector1">
            <a:avLst/>
          </a:prstGeom>
          <a:noFill/>
          <a:ln cap="flat" cmpd="sng" w="12700">
            <a:solidFill>
              <a:schemeClr val="lt1"/>
            </a:solidFill>
            <a:prstDash val="solid"/>
            <a:miter lim="80"/>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f1c4674ac0_0_7"/>
          <p:cNvSpPr txBox="1"/>
          <p:nvPr/>
        </p:nvSpPr>
        <p:spPr>
          <a:xfrm>
            <a:off x="3451325" y="534846"/>
            <a:ext cx="4983900" cy="2678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lt1"/>
              </a:buClr>
              <a:buSzPts val="6000"/>
              <a:buFont typeface="Work Sans"/>
              <a:buNone/>
            </a:pPr>
            <a:r>
              <a:rPr b="1" lang="en-US" sz="5100">
                <a:solidFill>
                  <a:schemeClr val="dk1"/>
                </a:solidFill>
                <a:latin typeface="Work Sans"/>
                <a:ea typeface="Work Sans"/>
                <a:cs typeface="Work Sans"/>
                <a:sym typeface="Work Sans"/>
              </a:rPr>
              <a:t>Modelo De negocios</a:t>
            </a:r>
            <a:endParaRPr b="1" sz="5100">
              <a:solidFill>
                <a:schemeClr val="dk1"/>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6000"/>
              <a:buFont typeface="Arial"/>
              <a:buNone/>
            </a:pPr>
            <a:r>
              <a:t/>
            </a:r>
            <a:endParaRPr b="1" sz="6000">
              <a:solidFill>
                <a:srgbClr val="00AD00"/>
              </a:solidFill>
              <a:latin typeface="Work Sans"/>
              <a:ea typeface="Work Sans"/>
              <a:cs typeface="Work Sans"/>
              <a:sym typeface="Work Sans"/>
            </a:endParaRPr>
          </a:p>
        </p:txBody>
      </p:sp>
      <p:sp>
        <p:nvSpPr>
          <p:cNvPr id="138" name="Google Shape;138;g3f1c4674ac0_0_7"/>
          <p:cNvSpPr txBox="1"/>
          <p:nvPr/>
        </p:nvSpPr>
        <p:spPr>
          <a:xfrm>
            <a:off x="1834803" y="2315393"/>
            <a:ext cx="8522400" cy="356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t>Elite Games operará como una plataforma de venta de videojuegos digitales. Para obtener los productos, las claves digitales se comprarán a distribuidores mayoristas autorizados, como Xsolla, Exertis Ztorm, Genba Digital o Smile, empresas que suministran códigos oficiales para PlayStation, Xbox y PC a negocios dedicados a la reventa. Posteriormente, estas claves se ofrecerán en la plataforma con un margen de ganancia. Una vez el cliente realice el pago, el sistema entregará automáticamente la clave digital para que pueda canjearla en la plataforma correspondiente. De esta manera, el modelo de negocio genera ingresos a través de la diferencia entre el precio de compra al distribuidor y el precio de venta al cliente final. </a:t>
            </a:r>
            <a:endParaRPr sz="2000"/>
          </a:p>
        </p:txBody>
      </p:sp>
      <p:cxnSp>
        <p:nvCxnSpPr>
          <p:cNvPr id="139" name="Google Shape;139;g3f1c4674ac0_0_7"/>
          <p:cNvCxnSpPr/>
          <p:nvPr/>
        </p:nvCxnSpPr>
        <p:spPr>
          <a:xfrm>
            <a:off x="3177413" y="2315406"/>
            <a:ext cx="5257800" cy="0"/>
          </a:xfrm>
          <a:prstGeom prst="straightConnector1">
            <a:avLst/>
          </a:prstGeom>
          <a:noFill/>
          <a:ln cap="flat" cmpd="sng" w="12700">
            <a:solidFill>
              <a:schemeClr val="dk1"/>
            </a:solidFill>
            <a:prstDash val="solid"/>
            <a:miter lim="80"/>
            <a:headEnd len="sm" w="sm" type="none"/>
            <a:tailEnd len="sm" w="sm" type="none"/>
          </a:ln>
        </p:spPr>
      </p:cxnSp>
      <p:sp>
        <p:nvSpPr>
          <p:cNvPr id="140" name="Google Shape;140;g3f1c4674ac0_0_7"/>
          <p:cNvSpPr txBox="1"/>
          <p:nvPr/>
        </p:nvSpPr>
        <p:spPr>
          <a:xfrm>
            <a:off x="3330000" y="5804575"/>
            <a:ext cx="1529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u="sng">
                <a:solidFill>
                  <a:schemeClr val="hlink"/>
                </a:solidFill>
                <a:hlinkClick r:id="rId3"/>
              </a:rPr>
              <a:t>Exertis Ztorm</a:t>
            </a:r>
            <a:r>
              <a:rPr lang="en-US" sz="1600">
                <a:solidFill>
                  <a:schemeClr val="dk1"/>
                </a:solidFill>
              </a:rPr>
              <a:t> </a:t>
            </a:r>
            <a:endParaRPr sz="1900"/>
          </a:p>
        </p:txBody>
      </p:sp>
      <p:sp>
        <p:nvSpPr>
          <p:cNvPr id="141" name="Google Shape;141;g3f1c4674ac0_0_7"/>
          <p:cNvSpPr txBox="1"/>
          <p:nvPr/>
        </p:nvSpPr>
        <p:spPr>
          <a:xfrm flipH="1">
            <a:off x="1834800" y="5804575"/>
            <a:ext cx="1529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u="sng">
                <a:solidFill>
                  <a:schemeClr val="hlink"/>
                </a:solidFill>
                <a:hlinkClick r:id="rId4"/>
              </a:rPr>
              <a:t>Genba Digital</a:t>
            </a:r>
            <a:r>
              <a:rPr lang="en-US" sz="1600">
                <a:solidFill>
                  <a:schemeClr val="dk1"/>
                </a:solidFill>
              </a:rPr>
              <a:t> </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 name="Shape 145"/>
        <p:cNvGrpSpPr/>
        <p:nvPr/>
      </p:nvGrpSpPr>
      <p:grpSpPr>
        <a:xfrm>
          <a:off x="0" y="0"/>
          <a:ext cx="0" cy="0"/>
          <a:chOff x="0" y="0"/>
          <a:chExt cx="0" cy="0"/>
        </a:xfrm>
      </p:grpSpPr>
      <p:sp>
        <p:nvSpPr>
          <p:cNvPr id="146" name="Google Shape;146;g3f1c4674ac0_0_2"/>
          <p:cNvSpPr txBox="1"/>
          <p:nvPr/>
        </p:nvSpPr>
        <p:spPr>
          <a:xfrm>
            <a:off x="2060700" y="2536200"/>
            <a:ext cx="8070600" cy="17856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lt1"/>
              </a:buClr>
              <a:buSzPts val="6000"/>
              <a:buFont typeface="Work Sans"/>
              <a:buNone/>
            </a:pPr>
            <a:r>
              <a:rPr b="1" lang="en-US" sz="4600">
                <a:solidFill>
                  <a:schemeClr val="lt1"/>
                </a:solidFill>
                <a:latin typeface="Work Sans"/>
                <a:ea typeface="Work Sans"/>
                <a:cs typeface="Work Sans"/>
                <a:sym typeface="Work Sans"/>
              </a:rPr>
              <a:t>Diseño Base De Datos</a:t>
            </a:r>
            <a:endParaRPr b="1" sz="4600">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chemeClr val="lt1"/>
              </a:buClr>
              <a:buSzPts val="6000"/>
              <a:buFont typeface="Work Sans"/>
              <a:buNone/>
            </a:pPr>
            <a:r>
              <a:t/>
            </a:r>
            <a:endParaRPr b="1" sz="3200">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chemeClr val="lt1"/>
              </a:buClr>
              <a:buSzPts val="6000"/>
              <a:buFont typeface="Work Sans"/>
              <a:buNone/>
            </a:pPr>
            <a:r>
              <a:t/>
            </a:r>
            <a:endParaRPr b="1" i="0" sz="3200" u="none" cap="none" strike="noStrike">
              <a:solidFill>
                <a:schemeClr val="lt1"/>
              </a:solidFill>
              <a:latin typeface="Work Sans"/>
              <a:ea typeface="Work Sans"/>
              <a:cs typeface="Work Sans"/>
              <a:sym typeface="Work Sans"/>
            </a:endParaRPr>
          </a:p>
        </p:txBody>
      </p:sp>
      <p:cxnSp>
        <p:nvCxnSpPr>
          <p:cNvPr id="147" name="Google Shape;147;g3f1c4674ac0_0_2"/>
          <p:cNvCxnSpPr/>
          <p:nvPr/>
        </p:nvCxnSpPr>
        <p:spPr>
          <a:xfrm>
            <a:off x="3467110" y="3429008"/>
            <a:ext cx="5257800" cy="0"/>
          </a:xfrm>
          <a:prstGeom prst="straightConnector1">
            <a:avLst/>
          </a:prstGeom>
          <a:noFill/>
          <a:ln cap="flat" cmpd="sng" w="12700">
            <a:solidFill>
              <a:schemeClr val="lt1"/>
            </a:solidFill>
            <a:prstDash val="solid"/>
            <a:miter lim="80"/>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d1c95a546_0_4"/>
          <p:cNvSpPr/>
          <p:nvPr/>
        </p:nvSpPr>
        <p:spPr>
          <a:xfrm>
            <a:off x="44300" y="0"/>
            <a:ext cx="12192000" cy="1196100"/>
          </a:xfrm>
          <a:prstGeom prst="rect">
            <a:avLst/>
          </a:prstGeom>
          <a:solidFill>
            <a:srgbClr val="00AD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6000"/>
              <a:buFont typeface="Work Sans"/>
              <a:buNone/>
            </a:pPr>
            <a:r>
              <a:rPr b="1" lang="en-US" sz="3800">
                <a:solidFill>
                  <a:schemeClr val="lt1"/>
                </a:solidFill>
                <a:latin typeface="Work Sans"/>
                <a:ea typeface="Work Sans"/>
                <a:cs typeface="Work Sans"/>
                <a:sym typeface="Work Sans"/>
              </a:rPr>
              <a:t>Modelo entidad </a:t>
            </a:r>
            <a:endParaRPr b="1" sz="3800">
              <a:solidFill>
                <a:schemeClr val="lt1"/>
              </a:solidFill>
              <a:latin typeface="Work Sans"/>
              <a:ea typeface="Work Sans"/>
              <a:cs typeface="Work Sans"/>
              <a:sym typeface="Work Sans"/>
            </a:endParaRPr>
          </a:p>
          <a:p>
            <a:pPr indent="0" lvl="0" marL="0" rtl="0" algn="ctr">
              <a:spcBef>
                <a:spcPts val="0"/>
              </a:spcBef>
              <a:spcAft>
                <a:spcPts val="0"/>
              </a:spcAft>
              <a:buClr>
                <a:schemeClr val="lt1"/>
              </a:buClr>
              <a:buSzPts val="6000"/>
              <a:buFont typeface="Work Sans"/>
              <a:buNone/>
            </a:pPr>
            <a:r>
              <a:rPr b="1" lang="en-US" sz="3800">
                <a:solidFill>
                  <a:schemeClr val="lt1"/>
                </a:solidFill>
                <a:latin typeface="Work Sans"/>
                <a:ea typeface="Work Sans"/>
                <a:cs typeface="Work Sans"/>
                <a:sym typeface="Work Sans"/>
              </a:rPr>
              <a:t>relación crow's foot</a:t>
            </a:r>
            <a:endParaRPr sz="600">
              <a:latin typeface="Calibri"/>
              <a:ea typeface="Calibri"/>
              <a:cs typeface="Calibri"/>
              <a:sym typeface="Calibri"/>
            </a:endParaRPr>
          </a:p>
        </p:txBody>
      </p:sp>
      <p:pic>
        <p:nvPicPr>
          <p:cNvPr id="154" name="Google Shape;154;g3ed1c95a546_0_4" title="NUEVO-DIAGRAMA-JUEVES-2-DE-JULIO.png"/>
          <p:cNvPicPr preferRelativeResize="0"/>
          <p:nvPr/>
        </p:nvPicPr>
        <p:blipFill>
          <a:blip r:embed="rId3">
            <a:alphaModFix/>
          </a:blip>
          <a:stretch>
            <a:fillRect/>
          </a:stretch>
        </p:blipFill>
        <p:spPr>
          <a:xfrm>
            <a:off x="890850" y="1196100"/>
            <a:ext cx="10498893" cy="53571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ed1c95a546_0_25"/>
          <p:cNvSpPr/>
          <p:nvPr/>
        </p:nvSpPr>
        <p:spPr>
          <a:xfrm>
            <a:off x="0" y="-251525"/>
            <a:ext cx="12192000" cy="1196100"/>
          </a:xfrm>
          <a:prstGeom prst="rect">
            <a:avLst/>
          </a:prstGeom>
          <a:solidFill>
            <a:srgbClr val="00AD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800">
                <a:solidFill>
                  <a:schemeClr val="lt1"/>
                </a:solidFill>
                <a:latin typeface="Work Sans"/>
                <a:ea typeface="Work Sans"/>
                <a:cs typeface="Work Sans"/>
                <a:sym typeface="Work Sans"/>
              </a:rPr>
              <a:t>Modelo Relacional</a:t>
            </a:r>
            <a:endParaRPr sz="600">
              <a:latin typeface="Calibri"/>
              <a:ea typeface="Calibri"/>
              <a:cs typeface="Calibri"/>
              <a:sym typeface="Calibri"/>
            </a:endParaRPr>
          </a:p>
        </p:txBody>
      </p:sp>
      <p:pic>
        <p:nvPicPr>
          <p:cNvPr id="161" name="Google Shape;161;g3ed1c95a546_0_25"/>
          <p:cNvPicPr preferRelativeResize="0"/>
          <p:nvPr/>
        </p:nvPicPr>
        <p:blipFill>
          <a:blip r:embed="rId3">
            <a:alphaModFix/>
          </a:blip>
          <a:stretch>
            <a:fillRect/>
          </a:stretch>
        </p:blipFill>
        <p:spPr>
          <a:xfrm>
            <a:off x="0" y="872825"/>
            <a:ext cx="12191999" cy="6699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ed1c95a546_0_16"/>
          <p:cNvSpPr/>
          <p:nvPr/>
        </p:nvSpPr>
        <p:spPr>
          <a:xfrm>
            <a:off x="5325" y="20675"/>
            <a:ext cx="12192000" cy="763500"/>
          </a:xfrm>
          <a:prstGeom prst="rect">
            <a:avLst/>
          </a:prstGeom>
          <a:solidFill>
            <a:srgbClr val="00AD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6000"/>
              <a:buFont typeface="Work Sans"/>
              <a:buNone/>
            </a:pPr>
            <a:r>
              <a:rPr b="1" lang="en-US" sz="2600">
                <a:solidFill>
                  <a:schemeClr val="lt1"/>
                </a:solidFill>
                <a:latin typeface="Work Sans"/>
                <a:ea typeface="Work Sans"/>
                <a:cs typeface="Work Sans"/>
                <a:sym typeface="Work Sans"/>
              </a:rPr>
              <a:t>Normalización</a:t>
            </a:r>
            <a:endParaRPr b="1" sz="3800">
              <a:solidFill>
                <a:schemeClr val="lt1"/>
              </a:solidFill>
              <a:latin typeface="Work Sans"/>
              <a:ea typeface="Work Sans"/>
              <a:cs typeface="Work Sans"/>
              <a:sym typeface="Work Sans"/>
            </a:endParaRPr>
          </a:p>
        </p:txBody>
      </p:sp>
      <p:pic>
        <p:nvPicPr>
          <p:cNvPr id="168" name="Google Shape;168;g3ed1c95a546_0_16"/>
          <p:cNvPicPr preferRelativeResize="0"/>
          <p:nvPr/>
        </p:nvPicPr>
        <p:blipFill>
          <a:blip r:embed="rId3">
            <a:alphaModFix/>
          </a:blip>
          <a:stretch>
            <a:fillRect/>
          </a:stretch>
        </p:blipFill>
        <p:spPr>
          <a:xfrm>
            <a:off x="157725" y="784175"/>
            <a:ext cx="11887198" cy="2896419"/>
          </a:xfrm>
          <a:prstGeom prst="rect">
            <a:avLst/>
          </a:prstGeom>
          <a:noFill/>
          <a:ln>
            <a:noFill/>
          </a:ln>
        </p:spPr>
      </p:pic>
      <p:sp>
        <p:nvSpPr>
          <p:cNvPr id="169" name="Google Shape;169;g3ed1c95a546_0_16"/>
          <p:cNvSpPr txBox="1"/>
          <p:nvPr/>
        </p:nvSpPr>
        <p:spPr>
          <a:xfrm>
            <a:off x="2836500" y="4340425"/>
            <a:ext cx="65190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900" u="sng">
                <a:solidFill>
                  <a:schemeClr val="hlink"/>
                </a:solidFill>
                <a:hlinkClick r:id="rId4"/>
              </a:rPr>
              <a:t>EliteGames_FormaNoNormalizada (3).xlsx - Hojas de cálculo de Google</a:t>
            </a:r>
            <a:r>
              <a:rPr lang="en-US" sz="2900">
                <a:solidFill>
                  <a:schemeClr val="dk1"/>
                </a:solidFill>
              </a:rPr>
              <a:t> </a:t>
            </a:r>
            <a:endParaRPr sz="3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ed3806e173_0_10"/>
          <p:cNvSpPr/>
          <p:nvPr/>
        </p:nvSpPr>
        <p:spPr>
          <a:xfrm>
            <a:off x="44300" y="0"/>
            <a:ext cx="12192000" cy="1196100"/>
          </a:xfrm>
          <a:prstGeom prst="rect">
            <a:avLst/>
          </a:prstGeom>
          <a:solidFill>
            <a:srgbClr val="00AD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6000"/>
              <a:buFont typeface="Work Sans"/>
              <a:buNone/>
            </a:pPr>
            <a:r>
              <a:rPr b="1" lang="en-US" sz="4400">
                <a:solidFill>
                  <a:schemeClr val="lt1"/>
                </a:solidFill>
                <a:latin typeface="Work Sans"/>
                <a:ea typeface="Work Sans"/>
                <a:cs typeface="Work Sans"/>
                <a:sym typeface="Work Sans"/>
              </a:rPr>
              <a:t>Diccionario de datos</a:t>
            </a:r>
            <a:endParaRPr b="1" sz="5600">
              <a:solidFill>
                <a:schemeClr val="lt1"/>
              </a:solidFill>
              <a:latin typeface="Work Sans"/>
              <a:ea typeface="Work Sans"/>
              <a:cs typeface="Work Sans"/>
              <a:sym typeface="Work Sans"/>
            </a:endParaRPr>
          </a:p>
          <a:p>
            <a:pPr indent="0" lvl="0" marL="0" rtl="0" algn="ctr">
              <a:spcBef>
                <a:spcPts val="0"/>
              </a:spcBef>
              <a:spcAft>
                <a:spcPts val="0"/>
              </a:spcAft>
              <a:buNone/>
            </a:pPr>
            <a:r>
              <a:t/>
            </a:r>
            <a:endParaRPr b="1" sz="3800">
              <a:solidFill>
                <a:schemeClr val="lt1"/>
              </a:solidFill>
              <a:latin typeface="Work Sans"/>
              <a:ea typeface="Work Sans"/>
              <a:cs typeface="Work Sans"/>
              <a:sym typeface="Work Sans"/>
            </a:endParaRPr>
          </a:p>
        </p:txBody>
      </p:sp>
      <p:pic>
        <p:nvPicPr>
          <p:cNvPr id="176" name="Google Shape;176;g3ed3806e173_0_10"/>
          <p:cNvPicPr preferRelativeResize="0"/>
          <p:nvPr/>
        </p:nvPicPr>
        <p:blipFill>
          <a:blip r:embed="rId3">
            <a:alphaModFix/>
          </a:blip>
          <a:stretch>
            <a:fillRect/>
          </a:stretch>
        </p:blipFill>
        <p:spPr>
          <a:xfrm>
            <a:off x="3117513" y="1196100"/>
            <a:ext cx="5956976" cy="5000300"/>
          </a:xfrm>
          <a:prstGeom prst="rect">
            <a:avLst/>
          </a:prstGeom>
          <a:noFill/>
          <a:ln>
            <a:noFill/>
          </a:ln>
        </p:spPr>
      </p:pic>
      <p:sp>
        <p:nvSpPr>
          <p:cNvPr id="177" name="Google Shape;177;g3ed3806e173_0_10"/>
          <p:cNvSpPr txBox="1"/>
          <p:nvPr/>
        </p:nvSpPr>
        <p:spPr>
          <a:xfrm>
            <a:off x="2146550" y="6373900"/>
            <a:ext cx="798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https://drive.google.com/file/d/1VmV6iOAPO8oZQOAMNa5xTQMvMxXuB-Xt/view?usp=drive_link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sp>
        <p:nvSpPr>
          <p:cNvPr id="182" name="Google Shape;182;g3f279f7552c_0_0"/>
          <p:cNvSpPr txBox="1"/>
          <p:nvPr/>
        </p:nvSpPr>
        <p:spPr>
          <a:xfrm>
            <a:off x="2060700" y="2963050"/>
            <a:ext cx="8070600" cy="24780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lt1"/>
              </a:buClr>
              <a:buSzPts val="6000"/>
              <a:buFont typeface="Work Sans"/>
              <a:buNone/>
            </a:pPr>
            <a:r>
              <a:rPr b="1" lang="en-US" sz="5000">
                <a:solidFill>
                  <a:schemeClr val="lt1"/>
                </a:solidFill>
                <a:latin typeface="Work Sans"/>
                <a:ea typeface="Work Sans"/>
                <a:cs typeface="Work Sans"/>
                <a:sym typeface="Work Sans"/>
              </a:rPr>
              <a:t>Diseño y arquitectura</a:t>
            </a:r>
            <a:endParaRPr b="1" sz="6200">
              <a:solidFill>
                <a:schemeClr val="lt1"/>
              </a:solidFill>
              <a:latin typeface="Work Sans"/>
              <a:ea typeface="Work Sans"/>
              <a:cs typeface="Work Sans"/>
              <a:sym typeface="Work Sans"/>
            </a:endParaRPr>
          </a:p>
          <a:p>
            <a:pPr indent="0" lvl="0" marL="0" rtl="0" algn="ctr">
              <a:spcBef>
                <a:spcPts val="0"/>
              </a:spcBef>
              <a:spcAft>
                <a:spcPts val="0"/>
              </a:spcAft>
              <a:buClr>
                <a:schemeClr val="lt1"/>
              </a:buClr>
              <a:buSzPts val="6000"/>
              <a:buFont typeface="Work Sans"/>
              <a:buNone/>
            </a:pPr>
            <a:r>
              <a:t/>
            </a:r>
            <a:endParaRPr b="1" sz="4100">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chemeClr val="lt1"/>
              </a:buClr>
              <a:buSzPts val="6000"/>
              <a:buFont typeface="Work Sans"/>
              <a:buNone/>
            </a:pPr>
            <a:r>
              <a:t/>
            </a:r>
            <a:endParaRPr b="1" sz="3200">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chemeClr val="lt1"/>
              </a:buClr>
              <a:buSzPts val="6000"/>
              <a:buFont typeface="Work Sans"/>
              <a:buNone/>
            </a:pPr>
            <a:r>
              <a:t/>
            </a:r>
            <a:endParaRPr b="1" i="0" sz="3200" u="none" cap="none" strike="noStrike">
              <a:solidFill>
                <a:schemeClr val="lt1"/>
              </a:solidFill>
              <a:latin typeface="Work Sans"/>
              <a:ea typeface="Work Sans"/>
              <a:cs typeface="Work Sans"/>
              <a:sym typeface="Work Sans"/>
            </a:endParaRPr>
          </a:p>
        </p:txBody>
      </p:sp>
      <p:cxnSp>
        <p:nvCxnSpPr>
          <p:cNvPr id="183" name="Google Shape;183;g3f279f7552c_0_0"/>
          <p:cNvCxnSpPr/>
          <p:nvPr/>
        </p:nvCxnSpPr>
        <p:spPr>
          <a:xfrm>
            <a:off x="3467110" y="3835208"/>
            <a:ext cx="5257800" cy="0"/>
          </a:xfrm>
          <a:prstGeom prst="straightConnector1">
            <a:avLst/>
          </a:prstGeom>
          <a:noFill/>
          <a:ln cap="flat" cmpd="sng" w="12700">
            <a:solidFill>
              <a:schemeClr val="lt1"/>
            </a:solidFill>
            <a:prstDash val="solid"/>
            <a:miter lim="80"/>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f279f7552c_0_5"/>
          <p:cNvSpPr/>
          <p:nvPr/>
        </p:nvSpPr>
        <p:spPr>
          <a:xfrm>
            <a:off x="5325" y="20675"/>
            <a:ext cx="12192000" cy="763500"/>
          </a:xfrm>
          <a:prstGeom prst="rect">
            <a:avLst/>
          </a:prstGeom>
          <a:solidFill>
            <a:srgbClr val="00AD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6000"/>
              <a:buFont typeface="Work Sans"/>
              <a:buNone/>
            </a:pPr>
            <a:r>
              <a:rPr b="1" lang="en-US" sz="2600">
                <a:solidFill>
                  <a:schemeClr val="lt1"/>
                </a:solidFill>
                <a:latin typeface="Work Sans"/>
                <a:ea typeface="Work Sans"/>
                <a:cs typeface="Work Sans"/>
                <a:sym typeface="Work Sans"/>
              </a:rPr>
              <a:t>Diagramas de clase UML</a:t>
            </a:r>
            <a:endParaRPr b="1" sz="3800">
              <a:solidFill>
                <a:schemeClr val="lt1"/>
              </a:solidFill>
              <a:latin typeface="Work Sans"/>
              <a:ea typeface="Work Sans"/>
              <a:cs typeface="Work Sans"/>
              <a:sym typeface="Work Sans"/>
            </a:endParaRPr>
          </a:p>
        </p:txBody>
      </p:sp>
      <p:pic>
        <p:nvPicPr>
          <p:cNvPr id="190" name="Google Shape;190;g3f279f7552c_0_5"/>
          <p:cNvPicPr preferRelativeResize="0"/>
          <p:nvPr/>
        </p:nvPicPr>
        <p:blipFill>
          <a:blip r:embed="rId3">
            <a:alphaModFix/>
          </a:blip>
          <a:stretch>
            <a:fillRect/>
          </a:stretch>
        </p:blipFill>
        <p:spPr>
          <a:xfrm>
            <a:off x="940903" y="848725"/>
            <a:ext cx="10320848" cy="6073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f279f7552c_0_19"/>
          <p:cNvSpPr/>
          <p:nvPr/>
        </p:nvSpPr>
        <p:spPr>
          <a:xfrm>
            <a:off x="5325" y="20675"/>
            <a:ext cx="12192000" cy="763500"/>
          </a:xfrm>
          <a:prstGeom prst="rect">
            <a:avLst/>
          </a:prstGeom>
          <a:solidFill>
            <a:srgbClr val="00AD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6000"/>
              <a:buFont typeface="Work Sans"/>
              <a:buNone/>
            </a:pPr>
            <a:r>
              <a:rPr b="1" lang="en-US" sz="2600">
                <a:solidFill>
                  <a:schemeClr val="lt1"/>
                </a:solidFill>
                <a:latin typeface="Work Sans"/>
                <a:ea typeface="Work Sans"/>
                <a:cs typeface="Work Sans"/>
                <a:sym typeface="Work Sans"/>
              </a:rPr>
              <a:t>Diagramas De De despliegue UML</a:t>
            </a:r>
            <a:endParaRPr b="1" sz="3800">
              <a:solidFill>
                <a:schemeClr val="lt1"/>
              </a:solidFill>
              <a:latin typeface="Work Sans"/>
              <a:ea typeface="Work Sans"/>
              <a:cs typeface="Work Sans"/>
              <a:sym typeface="Work Sans"/>
            </a:endParaRPr>
          </a:p>
        </p:txBody>
      </p:sp>
      <p:pic>
        <p:nvPicPr>
          <p:cNvPr id="197" name="Google Shape;197;g3f279f7552c_0_19"/>
          <p:cNvPicPr preferRelativeResize="0"/>
          <p:nvPr/>
        </p:nvPicPr>
        <p:blipFill>
          <a:blip r:embed="rId3">
            <a:alphaModFix/>
          </a:blip>
          <a:stretch>
            <a:fillRect/>
          </a:stretch>
        </p:blipFill>
        <p:spPr>
          <a:xfrm>
            <a:off x="749000" y="784175"/>
            <a:ext cx="10693994" cy="60738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1" name="Shape 201"/>
        <p:cNvGrpSpPr/>
        <p:nvPr/>
      </p:nvGrpSpPr>
      <p:grpSpPr>
        <a:xfrm>
          <a:off x="0" y="0"/>
          <a:ext cx="0" cy="0"/>
          <a:chOff x="0" y="0"/>
          <a:chExt cx="0" cy="0"/>
        </a:xfrm>
      </p:grpSpPr>
      <p:sp>
        <p:nvSpPr>
          <p:cNvPr id="202" name="Google Shape;202;g3ed1c95a546_0_29"/>
          <p:cNvSpPr txBox="1"/>
          <p:nvPr/>
        </p:nvSpPr>
        <p:spPr>
          <a:xfrm>
            <a:off x="2060700" y="2963050"/>
            <a:ext cx="8070600" cy="24780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lt1"/>
              </a:buClr>
              <a:buSzPts val="6000"/>
              <a:buFont typeface="Work Sans"/>
              <a:buNone/>
            </a:pPr>
            <a:r>
              <a:rPr b="1" lang="en-US" sz="5000">
                <a:solidFill>
                  <a:schemeClr val="lt1"/>
                </a:solidFill>
                <a:latin typeface="Work Sans"/>
                <a:ea typeface="Work Sans"/>
                <a:cs typeface="Work Sans"/>
                <a:sym typeface="Work Sans"/>
              </a:rPr>
              <a:t>Diseño de interfaces</a:t>
            </a:r>
            <a:endParaRPr b="1" sz="6200">
              <a:solidFill>
                <a:schemeClr val="lt1"/>
              </a:solidFill>
              <a:latin typeface="Work Sans"/>
              <a:ea typeface="Work Sans"/>
              <a:cs typeface="Work Sans"/>
              <a:sym typeface="Work Sans"/>
            </a:endParaRPr>
          </a:p>
          <a:p>
            <a:pPr indent="0" lvl="0" marL="0" rtl="0" algn="ctr">
              <a:spcBef>
                <a:spcPts val="0"/>
              </a:spcBef>
              <a:spcAft>
                <a:spcPts val="0"/>
              </a:spcAft>
              <a:buClr>
                <a:schemeClr val="lt1"/>
              </a:buClr>
              <a:buSzPts val="6000"/>
              <a:buFont typeface="Work Sans"/>
              <a:buNone/>
            </a:pPr>
            <a:r>
              <a:t/>
            </a:r>
            <a:endParaRPr b="1" sz="4100">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chemeClr val="lt1"/>
              </a:buClr>
              <a:buSzPts val="6000"/>
              <a:buFont typeface="Work Sans"/>
              <a:buNone/>
            </a:pPr>
            <a:r>
              <a:t/>
            </a:r>
            <a:endParaRPr b="1" sz="3200">
              <a:solidFill>
                <a:schemeClr val="lt1"/>
              </a:solidFill>
              <a:latin typeface="Work Sans"/>
              <a:ea typeface="Work Sans"/>
              <a:cs typeface="Work Sans"/>
              <a:sym typeface="Work Sans"/>
            </a:endParaRPr>
          </a:p>
          <a:p>
            <a:pPr indent="0" lvl="0" marL="0" marR="0" rtl="0" algn="ctr">
              <a:lnSpc>
                <a:spcPct val="100000"/>
              </a:lnSpc>
              <a:spcBef>
                <a:spcPts val="0"/>
              </a:spcBef>
              <a:spcAft>
                <a:spcPts val="0"/>
              </a:spcAft>
              <a:buClr>
                <a:schemeClr val="lt1"/>
              </a:buClr>
              <a:buSzPts val="6000"/>
              <a:buFont typeface="Work Sans"/>
              <a:buNone/>
            </a:pPr>
            <a:r>
              <a:t/>
            </a:r>
            <a:endParaRPr b="1" i="0" sz="3200" u="none" cap="none" strike="noStrike">
              <a:solidFill>
                <a:schemeClr val="lt1"/>
              </a:solidFill>
              <a:latin typeface="Work Sans"/>
              <a:ea typeface="Work Sans"/>
              <a:cs typeface="Work Sans"/>
              <a:sym typeface="Work Sans"/>
            </a:endParaRPr>
          </a:p>
        </p:txBody>
      </p:sp>
      <p:cxnSp>
        <p:nvCxnSpPr>
          <p:cNvPr id="203" name="Google Shape;203;g3ed1c95a546_0_29"/>
          <p:cNvCxnSpPr/>
          <p:nvPr/>
        </p:nvCxnSpPr>
        <p:spPr>
          <a:xfrm>
            <a:off x="3467110" y="3835208"/>
            <a:ext cx="5257800" cy="0"/>
          </a:xfrm>
          <a:prstGeom prst="straightConnector1">
            <a:avLst/>
          </a:prstGeom>
          <a:noFill/>
          <a:ln cap="flat" cmpd="sng" w="12700">
            <a:solidFill>
              <a:schemeClr val="lt1"/>
            </a:solidFill>
            <a:prstDash val="solid"/>
            <a:miter lim="80"/>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f1c4674ac0_0_24"/>
          <p:cNvSpPr/>
          <p:nvPr/>
        </p:nvSpPr>
        <p:spPr>
          <a:xfrm>
            <a:off x="44300" y="0"/>
            <a:ext cx="12192000" cy="1196100"/>
          </a:xfrm>
          <a:prstGeom prst="rect">
            <a:avLst/>
          </a:prstGeom>
          <a:solidFill>
            <a:srgbClr val="00AD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6000"/>
              <a:buFont typeface="Work Sans"/>
              <a:buNone/>
            </a:pPr>
            <a:r>
              <a:rPr b="1" lang="en-US" sz="4400">
                <a:solidFill>
                  <a:schemeClr val="lt1"/>
                </a:solidFill>
                <a:latin typeface="Work Sans"/>
                <a:ea typeface="Work Sans"/>
                <a:cs typeface="Work Sans"/>
                <a:sym typeface="Work Sans"/>
              </a:rPr>
              <a:t>Pagina Web</a:t>
            </a:r>
            <a:endParaRPr b="1" sz="5600">
              <a:solidFill>
                <a:schemeClr val="lt1"/>
              </a:solidFill>
              <a:latin typeface="Work Sans"/>
              <a:ea typeface="Work Sans"/>
              <a:cs typeface="Work Sans"/>
              <a:sym typeface="Work Sans"/>
            </a:endParaRPr>
          </a:p>
          <a:p>
            <a:pPr indent="0" lvl="0" marL="0" rtl="0" algn="ctr">
              <a:spcBef>
                <a:spcPts val="0"/>
              </a:spcBef>
              <a:spcAft>
                <a:spcPts val="0"/>
              </a:spcAft>
              <a:buNone/>
            </a:pPr>
            <a:r>
              <a:t/>
            </a:r>
            <a:endParaRPr b="1" sz="3800">
              <a:solidFill>
                <a:schemeClr val="lt1"/>
              </a:solidFill>
              <a:latin typeface="Work Sans"/>
              <a:ea typeface="Work Sans"/>
              <a:cs typeface="Work Sans"/>
              <a:sym typeface="Work Sans"/>
            </a:endParaRPr>
          </a:p>
        </p:txBody>
      </p:sp>
      <p:sp>
        <p:nvSpPr>
          <p:cNvPr id="210" name="Google Shape;210;g3f1c4674ac0_0_24"/>
          <p:cNvSpPr txBox="1"/>
          <p:nvPr/>
        </p:nvSpPr>
        <p:spPr>
          <a:xfrm>
            <a:off x="4015550" y="1196100"/>
            <a:ext cx="4249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u="sng">
                <a:solidFill>
                  <a:schemeClr val="hlink"/>
                </a:solidFill>
                <a:hlinkClick r:id="rId3"/>
              </a:rPr>
              <a:t>Elite Games — Iniciar sesión</a:t>
            </a:r>
            <a:r>
              <a:rPr lang="en-US" sz="2400">
                <a:solidFill>
                  <a:schemeClr val="dk1"/>
                </a:solidFill>
              </a:rPr>
              <a:t> </a:t>
            </a:r>
            <a:endParaRPr sz="2700"/>
          </a:p>
        </p:txBody>
      </p:sp>
      <p:pic>
        <p:nvPicPr>
          <p:cNvPr id="211" name="Google Shape;211;g3f1c4674ac0_0_24"/>
          <p:cNvPicPr preferRelativeResize="0"/>
          <p:nvPr/>
        </p:nvPicPr>
        <p:blipFill>
          <a:blip r:embed="rId4">
            <a:alphaModFix/>
          </a:blip>
          <a:stretch>
            <a:fillRect/>
          </a:stretch>
        </p:blipFill>
        <p:spPr>
          <a:xfrm>
            <a:off x="968163" y="1750200"/>
            <a:ext cx="10255682" cy="4803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f00d7c0ea7_1_5"/>
          <p:cNvSpPr/>
          <p:nvPr/>
        </p:nvSpPr>
        <p:spPr>
          <a:xfrm>
            <a:off x="5325" y="20675"/>
            <a:ext cx="12192000" cy="763500"/>
          </a:xfrm>
          <a:prstGeom prst="rect">
            <a:avLst/>
          </a:prstGeom>
          <a:solidFill>
            <a:srgbClr val="00AD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6000"/>
              <a:buFont typeface="Work Sans"/>
              <a:buNone/>
            </a:pPr>
            <a:r>
              <a:rPr b="1" lang="en-US" sz="2600">
                <a:solidFill>
                  <a:schemeClr val="lt1"/>
                </a:solidFill>
                <a:latin typeface="Work Sans"/>
                <a:ea typeface="Work Sans"/>
                <a:cs typeface="Work Sans"/>
                <a:sym typeface="Work Sans"/>
              </a:rPr>
              <a:t>Github</a:t>
            </a:r>
            <a:endParaRPr b="1" sz="3800">
              <a:solidFill>
                <a:schemeClr val="lt1"/>
              </a:solidFill>
              <a:latin typeface="Work Sans"/>
              <a:ea typeface="Work Sans"/>
              <a:cs typeface="Work Sans"/>
              <a:sym typeface="Work Sans"/>
            </a:endParaRPr>
          </a:p>
        </p:txBody>
      </p:sp>
      <p:sp>
        <p:nvSpPr>
          <p:cNvPr id="218" name="Google Shape;218;g3f00d7c0ea7_1_5"/>
          <p:cNvSpPr txBox="1"/>
          <p:nvPr/>
        </p:nvSpPr>
        <p:spPr>
          <a:xfrm>
            <a:off x="92825" y="944575"/>
            <a:ext cx="117849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u="sng">
                <a:solidFill>
                  <a:schemeClr val="hlink"/>
                </a:solidFill>
                <a:hlinkClick r:id="rId3"/>
              </a:rPr>
              <a:t>PILINSAN/Elite-Games: Proyecto Sena Elite Games Pagina de venta de juegos digitales</a:t>
            </a:r>
            <a:r>
              <a:rPr lang="en-US" sz="2300">
                <a:solidFill>
                  <a:schemeClr val="dk1"/>
                </a:solidFill>
              </a:rPr>
              <a:t> </a:t>
            </a:r>
            <a:endParaRPr sz="2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2" name="Shape 22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2026-05-29T01:17:26Z</dcterms:created>
  <dc:creator>Jorge Enrique Pedraza Sanchez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y fmtid="{D5CDD505-2E9C-101B-9397-08002B2CF9AE}" pid="9" name="ICV">
    <vt:lpwstr>A5768C1851C94C43BFE6F60DBBF7045E_13</vt:lpwstr>
  </property>
  <property fmtid="{D5CDD505-2E9C-101B-9397-08002B2CF9AE}" pid="10" name="KSOProductBuildVer">
    <vt:lpwstr>3082-12.1.0.26372</vt:lpwstr>
  </property>
</Properties>
</file>