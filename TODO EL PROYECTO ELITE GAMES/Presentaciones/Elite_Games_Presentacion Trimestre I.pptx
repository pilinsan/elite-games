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Work Sans"/>
      <p:regular r:id="rId39"/>
      <p:bold r:id="rId40"/>
      <p:italic r:id="rId41"/>
      <p:boldItalic r:id="rId42"/>
    </p:embeddedFont>
    <p:embeddedFont>
      <p:font typeface="Work Sans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34">
          <p15:clr>
            <a:srgbClr val="A4A3A4"/>
          </p15:clr>
        </p15:guide>
        <p15:guide id="2" pos="3842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j40DHNSViTaUuMPVTNgylj0xJU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79886A-A53E-428C-BDF6-EF2008ACD36F}">
  <a:tblStyle styleId="{1279886A-A53E-428C-BDF6-EF2008ACD3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34" orient="horz"/>
        <p:guide pos="3842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-bold.fntdata"/><Relationship Id="rId20" Type="http://schemas.openxmlformats.org/officeDocument/2006/relationships/slide" Target="slides/slide14.xml"/><Relationship Id="rId42" Type="http://schemas.openxmlformats.org/officeDocument/2006/relationships/font" Target="fonts/WorkSans-boldItalic.fntdata"/><Relationship Id="rId41" Type="http://schemas.openxmlformats.org/officeDocument/2006/relationships/font" Target="fonts/WorkSans-italic.fntdata"/><Relationship Id="rId22" Type="http://schemas.openxmlformats.org/officeDocument/2006/relationships/slide" Target="slides/slide16.xml"/><Relationship Id="rId44" Type="http://schemas.openxmlformats.org/officeDocument/2006/relationships/font" Target="fonts/WorkSansLight-bold.fntdata"/><Relationship Id="rId21" Type="http://schemas.openxmlformats.org/officeDocument/2006/relationships/slide" Target="slides/slide15.xml"/><Relationship Id="rId43" Type="http://schemas.openxmlformats.org/officeDocument/2006/relationships/font" Target="fonts/WorkSansLight-regular.fntdata"/><Relationship Id="rId24" Type="http://schemas.openxmlformats.org/officeDocument/2006/relationships/slide" Target="slides/slide18.xml"/><Relationship Id="rId46" Type="http://schemas.openxmlformats.org/officeDocument/2006/relationships/font" Target="fonts/WorkSansLight-boldItalic.fntdata"/><Relationship Id="rId23" Type="http://schemas.openxmlformats.org/officeDocument/2006/relationships/slide" Target="slides/slide17.xml"/><Relationship Id="rId45" Type="http://schemas.openxmlformats.org/officeDocument/2006/relationships/font" Target="fonts/WorkSans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WorkSans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d1930817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ed1930817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d1930817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drive/folders/10eF46UcI2m1542i_dkT4BchoDVDvNbMZ?usp=drive_link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document/d/1MYs2jJu28-mXragPZPbs7ku0v3tMzj_g/edit?usp=drive_link&amp;ouid=104575615573091354146&amp;rtpof=true&amp;sd=true" TargetMode="External"/><Relationship Id="rId4" Type="http://schemas.openxmlformats.org/officeDocument/2006/relationships/hyperlink" Target="https://docs.google.com/document/d/10cHVvDgFOpsC8_NvTX-MPJLYH9ZXQwO4/edit?usp=drive_link&amp;ouid=104575615573091354146&amp;rtpof=true&amp;sd=tru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forms/d/e/1FAIpQLSdb3L45Y0nLlt4EbNW5y2MFjc0rvyybGetubL5QBYecGb_Slw/viewform?usp=header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00" cy="15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n-U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Elite Games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Angel Galvis Corredor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Santiago Palacio Pertuz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Trimestre 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ite_games_isotipo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9870" y="4379595"/>
            <a:ext cx="2828925" cy="1497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3150541" y="24592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buscamos?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3281910" y="34290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3089779" y="300079"/>
            <a:ext cx="628282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buscamos?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 flipH="1" rot="10800000">
            <a:off x="3575228" y="1315742"/>
            <a:ext cx="5678839" cy="22314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3"/>
          <p:cNvSpPr txBox="1"/>
          <p:nvPr/>
        </p:nvSpPr>
        <p:spPr>
          <a:xfrm>
            <a:off x="3508415" y="1677257"/>
            <a:ext cx="5034451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Elite Games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busca convertirse en la plataforma de referencia para la venta de videojuegos en línea, conectando a los usuarios con un catálogo amplio y actualizado de títulos para PlayStation, Xbox, PC y otras plataformas. Se quiere ofrecer un espacio donde cualquier persona pueda explorar, comparar y comprar juegos de forma fácil, rápida y segura, con múltiples proveedores integrados en un solo lugar.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se busca fortalecer la relación con los jugadores, ofreciendo filtros por género, plataforma y precio, así como reseñas y recomendaciones personalizadas. El objetivo a largo plazo es crecer como marketplace de videojuegos, dándole visibilidad a distintos proveedores y generando una comunidad activa de gamers que encuentren todo lo que necesitan en un solo sitio.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240241" y="17167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3604050" y="296875"/>
            <a:ext cx="4983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2192975" y="2761125"/>
            <a:ext cx="8153700" cy="24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plataforma web de venta de videojuegos que integre múltiples proveedores como PlayStation, Xbox y PC, permitiendo a los usuarios explorar un catálogo completo, comparar precios, gestionar sus compras y realizar pagos de forma segura, con el fin de centralizar la oferta de juegos en línea y ofrecer una experiencia de compra moderna, confiable y accesible para todos los tipos de gamers.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3467110" y="2375658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3372828" y="3259002"/>
            <a:ext cx="7015772" cy="2446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Administradores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Gestionan y actualizan la plataforma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Publican y gestionan juegos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Exploran el catálogo de juegos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Realizan compras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Acceden al soporte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2761509" y="1006802"/>
            <a:ext cx="675178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Usuarios del sistema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>
            <a:off x="5078347" y="2860026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4655787" y="6006432"/>
            <a:ext cx="567289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2761509" y="1006802"/>
            <a:ext cx="75269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 que resuelve</a:t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>
            <a:off x="5098297" y="2132369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7"/>
          <p:cNvSpPr/>
          <p:nvPr/>
        </p:nvSpPr>
        <p:spPr>
          <a:xfrm>
            <a:off x="2415984" y="2740408"/>
            <a:ext cx="84774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proyecto busca resolver la dificultad que tienen los gamers para encontrar videojuegos de distintas plataformas en un solo lugar, sin tener que visitar múltiples tiendas o páginas dispersas. La falta de un marketplace centralizado genera pérdida de tiempo, precios poco transparentes y poca confianza al comprar en línea. Elite Games propone una plataforma que reúna a varios proveedores de PlayStation, Xbox, PC y más, facilitando la búsqueda, comparación y compra de juegos de manera simple y segura.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2010525" y="5094638"/>
            <a:ext cx="8170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2761509" y="1006802"/>
            <a:ext cx="631628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2761509" y="1913467"/>
            <a:ext cx="6316281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7" name="Google Shape;147;p8"/>
          <p:cNvSpPr/>
          <p:nvPr/>
        </p:nvSpPr>
        <p:spPr>
          <a:xfrm>
            <a:off x="1004150" y="2325750"/>
            <a:ext cx="9831000" cy="31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solución consiste en desarrollar una plataforma web para la venta de videojuegos que funcione como un marketplace, donde múltiples proveedores puedan publicar su catálogo de títulos para PlayStation, Xbox, PC y otras plataformas. Los usuarios podrán registrarse, explorar el catálogo con filtros por género y plataforma, agregar juegos al carrito y comprar de forma segura.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sistema tendrá un panel administrativo para que los proveedores gestionen sus productos, precios y disponibilidad en tiempo real. También contará con un módulo de soporte que permita a los usuarios resolver dudas sobre sus compras o pedidos de manera ágil.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 esta plataforma se busca centralizar la oferta de videojuegos en línea, mejorar la experiencia de compra de los gamers, dar mayor visibilidad a los proveedores y posicionar a Elite Games como el punto de referencia para comprar juegos digitales.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1377380" y="2226068"/>
            <a:ext cx="9437239" cy="2998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proyecto contempla el desarrollo de los módulos principales de la plataforma: registro y autenticación de usuarios, catálogo de videojuegos con filtros por plataforma y género, carrito de compras, métodos de pago seguros, gestión de proveedores y soporte al cliente. Estos módulos cubrirán las necesidades básicas tanto de los compradores como de los proveedores que publiquen sus juegos en Elite Games.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alcance definido asegura que el proyecto sea viable en el tiempo estimado, entregando una plataforma funcional, estable y lista para conectar a gamers con proveedores de videojuegos de manera eficiente y confiable.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2761509" y="1006802"/>
            <a:ext cx="667714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9"/>
          <p:cNvCxnSpPr/>
          <p:nvPr/>
        </p:nvCxnSpPr>
        <p:spPr>
          <a:xfrm>
            <a:off x="2871563" y="2022465"/>
            <a:ext cx="663650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4973028" y="1226952"/>
            <a:ext cx="7015772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inicio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4214273" y="232575"/>
            <a:ext cx="346947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0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7188" y="1895870"/>
            <a:ext cx="7897624" cy="398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4825239" y="1223852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carrito de compras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BPMN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1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7609" y="2288284"/>
            <a:ext cx="9709346" cy="33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de pagos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BPMN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2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2955" y="1895870"/>
            <a:ext cx="6479645" cy="465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de productos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BPMN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3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0422" y="2083757"/>
            <a:ext cx="8208306" cy="299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de soporte técnico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3083528" y="321002"/>
            <a:ext cx="561429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BPMN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4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7951" y="1797579"/>
            <a:ext cx="7327115" cy="441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2441125" y="1298928"/>
            <a:ext cx="701577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completo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3024262" y="154779"/>
            <a:ext cx="575567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BPMN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5"/>
          <p:cNvCxnSpPr/>
          <p:nvPr/>
        </p:nvCxnSpPr>
        <p:spPr>
          <a:xfrm>
            <a:off x="4825239" y="1616267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2067" y="1657003"/>
            <a:ext cx="7196665" cy="5046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/>
        </p:nvSpPr>
        <p:spPr>
          <a:xfrm>
            <a:off x="3528000" y="1123925"/>
            <a:ext cx="513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casos de uso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2120850" y="2256900"/>
            <a:ext cx="79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https://drive.google.com/drive/folders/10eF46UcI2m1542i_dkT4BchoDVDvNbMZ?usp=drive_link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19308178_0_0"/>
          <p:cNvSpPr txBox="1"/>
          <p:nvPr/>
        </p:nvSpPr>
        <p:spPr>
          <a:xfrm>
            <a:off x="3528000" y="1123925"/>
            <a:ext cx="513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casos de uso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d19308178_0_0"/>
          <p:cNvSpPr txBox="1"/>
          <p:nvPr/>
        </p:nvSpPr>
        <p:spPr>
          <a:xfrm>
            <a:off x="2994600" y="2096725"/>
            <a:ext cx="620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https://docs.google.com/document/d/1MYs2jJu28-mXragPZPbs7ku0v3tMzj_g/edit?usp=drive_link&amp;ouid=104575615573091354146&amp;rtpof=true&amp;sd=true</a:t>
            </a:r>
            <a:endParaRPr/>
          </a:p>
        </p:txBody>
      </p:sp>
      <p:sp>
        <p:nvSpPr>
          <p:cNvPr id="217" name="Google Shape;217;g3ed19308178_0_0"/>
          <p:cNvSpPr txBox="1"/>
          <p:nvPr/>
        </p:nvSpPr>
        <p:spPr>
          <a:xfrm>
            <a:off x="3528000" y="2884725"/>
            <a:ext cx="513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Diagramas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d19308178_0_0"/>
          <p:cNvSpPr txBox="1"/>
          <p:nvPr/>
        </p:nvSpPr>
        <p:spPr>
          <a:xfrm>
            <a:off x="2806800" y="3752700"/>
            <a:ext cx="65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https://docs.google.com/document/d/10cHVvDgFOpsC8_NvTX-MPJLYH9ZXQwO4/edit?usp=drive_link&amp;ouid=104575615573091354146&amp;rtpof=true&amp;sd=true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380035" y="1354666"/>
            <a:ext cx="497936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EP-001 – Módulo de Usuario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1.El sistema permitirá a los usuarios registrarse mediante correo electrónico y contraseña.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2.El sistema validará la identidad del usuario mediante un correo de verificación o código SMS.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El sistema permitirá al usuario iniciar sesión con credenciales válidas.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El sistema bloqueará temporalmente la cuenta tras 3 intentos fallidos de inicio de sesión.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El sistema permitirá al usuario recuperar la contraseña mediante un enlace seguro enviado al correo.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630334" y="1354666"/>
            <a:ext cx="618163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EP-002 – Módulo de Catálogo de Videojuegos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El sistema permitirá al proveedor publicar nuevos juegos con nombre, descripción, precio, plataforma e imagen.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El sistema permitirá al proveedor modificar los datos de un juego publicado.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El sistema permitirá al proveedor eliminar juegos del catálogo.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El sistema mostrará a los usuarios el catálogo de juegos disponibles con filtros por plataforma, género y precio.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El sistema permitirá buscar juegos por nombre, plataforma, género o proveedor.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380035" y="1354666"/>
            <a:ext cx="497936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EP-003 – Módulo de Métodos de Pago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1.El sistema permitirá al usuario seleccionar entre diferentes métodos de pago disponibles (tarjeta, PSE, NEQUI, etc.).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2.El sistema validará los datos ingresados por el usuario antes de procesar la transacción.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3.El sistema confirmará al usuario el éxito o fallo de la transacción.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4.El sistema registrará el historial de pagos realizados por cada usuario.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5630334" y="1354666"/>
            <a:ext cx="6181631" cy="3077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EP-004 – Módulo de Carrito de Compras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El sistema permitirá al usuario agregar juegos al carrito de compras.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El sistema permitirá modificar la cantidad de licencias o copias en el carrito.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El sistema permitirá eliminar juegos del carrito de compras.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4.El sistema calculará automáticamente el total de la compra con impuestos y descuentos aplicables.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3392750" y="4413402"/>
            <a:ext cx="540649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EP-005 – Módulo PQRS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El sistema permitirá al usuario abrir tickets de soporte por problemas con su compra, entrega de clave o acceso al juego.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El sistema permitirá al usuario hacer seguimiento al estado de sus tickets de soporte en tiempo real.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 No Funcionales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380035" y="1354666"/>
            <a:ext cx="497936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EP-001 – Módulo de Usuario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1.Las cuentas de usuario deben protegerse con contraseñas seguras y cifradas.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2.El sistema debe enviar los correos de verificación en menos de 1 minuto.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3.La función de recuperación de contraseña debe ser fácil de usar y segura.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4.El inicio de sesión no debe tardar más de 2 segundos en responder.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5.La plataforma debe bloquear intentos fallidos para evitar accesos no autorizados.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5630334" y="1354666"/>
            <a:ext cx="618163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EP-002 – Módulo de Catálogo de Videojuegos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Los proveedores deben poder gestionar sus juegos sin que la plataforma se vuelva lenta.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2.La información del catálogo debe actualizarse en tiempo real para los usuarios.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El catálogo debe mostrarse correctamente en celulares y computadoras.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Las imágenes y capturas de los juegos deben cargarse en menos de 3 segundos.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Los filtros y búsquedas del catálogo deben entregar resultados claros y rápidos.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380035" y="1354666"/>
            <a:ext cx="497936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EP-003 – Módulo de Métodos de Pago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1.Los pagos deben realizarse de forma segura usando HTTPS y cifrado.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2.La validación de los datos de pago debe ser rápida y confiable.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3.Los usuarios deben recibir confirmación inmediata del pago exitoso o fallido.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4.El historial de pagos debe guardarse sin perder información.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5.El sistema debe soportar múltiples métodos de pago sin errores.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5630334" y="1354666"/>
            <a:ext cx="6181631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EP-004 – Módulo de Carrito de Compras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1.Los cambios en el carrito (agregar, quitar, modificar) deben actualizarse en tiempo real.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2.El cálculo del total debe incluir impuestos y descuentos correctamente y sin retrasos.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3.El carrito debe funcionar correctamente en todos los dispositivos.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392750" y="4413402"/>
            <a:ext cx="540649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EP-005 – Módulo PQRS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Los tickets de soporte deben registrarse de forma segura y no perderse.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Los usuarios deben poder consultar el estado de sus tickets en cualquier momento, sin retrasos.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456236" y="1158252"/>
            <a:ext cx="8882498" cy="69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EP-001 – Módulo de Usuario</a:t>
            </a:r>
            <a:endParaRPr b="1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Descripción: Gestiona el proceso completo de creación de cuentas, validación de identidad y acceso seguro a la plataforma, garantizando que solo usuarios autorizados puedan ingresar.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Objetivo: Asegurar un acceso confiable y protegido, permitiendo a los usuarios administrar su información y utilizar los servicios de manera segura.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66091"/>
                </a:solidFill>
                <a:latin typeface="Calibri"/>
                <a:ea typeface="Calibri"/>
                <a:cs typeface="Calibri"/>
                <a:sym typeface="Calibri"/>
              </a:rPr>
              <a:t>EP-002 – Módulo de Catálogo de Videojuegos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Descripción: Gestiona el catálogo de videojuegos disponibles en la plataforma, permitiendo a los proveedores publicar, modificar y eliminar títulos para PlayStation, Xbox, PC y otras plataformas.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Objetivo: Mantener un catálogo actualizado, organizado y fácil de explorar, con información confiable sobre cada juego disponible en la tienda.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US" sz="1800" u="none" cap="none" strike="noStrike">
                <a:solidFill>
                  <a:srgbClr val="366091"/>
                </a:solidFill>
                <a:latin typeface="Calibri"/>
                <a:ea typeface="Calibri"/>
                <a:cs typeface="Calibri"/>
                <a:sym typeface="Calibri"/>
              </a:rPr>
              <a:t>EP-003 – Módulo de Métodos de Pago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Descripción: Gestiona la integración, validación y ejecución de los distintos métodos de pago disponibles en la plataforma.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Objetivo: Asegurar transacciones seguras, rápidas y confiables para los usuarios.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456236" y="1158252"/>
            <a:ext cx="8882498" cy="55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66091"/>
                </a:solidFill>
                <a:latin typeface="Calibri"/>
                <a:ea typeface="Calibri"/>
                <a:cs typeface="Calibri"/>
                <a:sym typeface="Calibri"/>
              </a:rPr>
              <a:t>EP-004 – Módulo de Carrito de Compras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Descripción: Gestiona la selección y acumulación de juegos por parte del usuario, permitiendo revisar y ajustar su pedido antes de proceder al pago.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Objetivo: Ofrecer una experiencia de compra fluida donde el gamer pueda agregar, quitar y revisar los juegos seleccionados antes de pagar.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US" sz="1800" u="none" cap="none" strike="noStrike">
                <a:solidFill>
                  <a:srgbClr val="366091"/>
                </a:solidFill>
                <a:latin typeface="Calibri"/>
                <a:ea typeface="Calibri"/>
                <a:cs typeface="Calibri"/>
                <a:sym typeface="Calibri"/>
              </a:rPr>
              <a:t>EP-005 – Módulo de Soporte al Cliente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Descripción: Ofrece herramientas para que los usuarios puedan resolver dudas, reportar problemas con sus compras o claves de juegos, y solicitar asistencia directamente desde la plataforma.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Objetivo: Garantizar una comunicación eficiente entre el usuario y el equipo de soporte, mejorando la satisfacción del cliente.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uso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456236" y="1158252"/>
            <a:ext cx="6283231" cy="715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58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HU-001 – Registro de Usuario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usuario,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crear una cuenta proporcionando mis datos personales,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acceder a la plataforma según mi rol.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 correo electrónico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 duplicidad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Enviar código de verificación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Mostrar mensajes claros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Registrar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Asignar rol automáticamente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6636902" y="1158252"/>
            <a:ext cx="6283231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58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HU-002 – Explorar el Catálogo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gamer registrado,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explorar el catálogo de juegos disponibles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filtrando por plataforma, género o proveedor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Validación segura de credenciales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Mostrar juegos por plataforma (PS, Xbox, PC)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Filtrar por género y precio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 detalle de cada juego (descripción, capturas, requisitos)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uso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456236" y="1158252"/>
            <a:ext cx="6283231" cy="634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4958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HU-003 – Pago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gamer con juegos en mi carrito,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realizar el pago de forma segura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Mostrar métodos de pago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 método de pago seleccionado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Validar confirmación de pago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Registrar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6636902" y="1158252"/>
            <a:ext cx="6283231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58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HU-004 – Carrito de compras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gamer con juegos en mi carrito,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gestionar los juegos que voy a comprar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Agregar juegos al carrito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Editar cantidades a desear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 cálculo total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Registrar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uso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456236" y="1158252"/>
            <a:ext cx="6283231" cy="6209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58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HU-005 – Visualización de VideoJuegos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usuario,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ver los juegos disponibles en el catálogo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Visualización de categorías: PS, Xbox, PC y más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 descripción, capturas y requisitos de cada juego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Registrar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6636902" y="1158252"/>
            <a:ext cx="6283231" cy="729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58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HU-006 – Soporte (PQRS)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gamer con dudas sobre mis compras,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quiero recibir ayuda con problemas de mi pedido o clave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Criterios de aceptación: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Abrir ticket cuando sea necesario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con el soporte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 de preguntas frecuentes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Solución pronta del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5895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Registrar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Work Sans"/>
              <a:buNone/>
            </a:pPr>
            <a:r>
              <a:rPr b="1" i="0" lang="en-US" sz="24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Link De La Encuesta</a:t>
            </a:r>
            <a:endParaRPr b="1" i="0" sz="9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56236" y="1158252"/>
            <a:ext cx="1173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https://docs.google.com/forms/d/e/1FAIpQLSdb3L45Y0nLlt4EbNW5y2MFjc0rvyybGetubL5QBYecGb_Slw/viewform?usp=header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 de las respuestas de Formularios. Título de la pregunta: ¿Cuál es tu mayor problema al comprar juegos?. Número de respuestas: 9 respuestas." id="292" name="Google Shape;292;p34" title="¿Cuál es tu mayor problema al comprar juego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5" y="146550"/>
            <a:ext cx="12079252" cy="609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áfico de las respuestas de Formularios. Título de la pregunta:   ¿Qué tipo de ayuda te gustaría recibir antes de comprar?  . Número de respuestas: 9 respuestas." id="297" name="Google Shape;297;p35" title="  ¿Qué tipo de ayuda te gustaría recibir antes de comprar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039598" cy="616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/>
        </p:nvSpPr>
        <p:spPr>
          <a:xfrm>
            <a:off x="635" y="6111875"/>
            <a:ext cx="6647180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áfico de las respuestas de Formularios. Título de la pregunta:   ¿Qué te genera más desconfianza al comprar juegos en línea?  . Número de respuestas: 9 respuestas." id="303" name="Google Shape;303;p36" title="  ¿Qué te genera más desconfianza al comprar juegos en línea?  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039598" cy="636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Resumen de módulos del sistema</a:t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309" name="Google Shape;309;p37"/>
          <p:cNvGraphicFramePr/>
          <p:nvPr/>
        </p:nvGraphicFramePr>
        <p:xfrm>
          <a:off x="838200" y="1761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{1279886A-A53E-428C-BDF6-EF2008ACD36F}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Módulo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Descripción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Actor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Función Principal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Catálogo de Juegos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Catálogo y venta de videojuegos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Proveedor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Agregar / Editar / Eliminar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Carrito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Gestión de compra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Cliente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Agregar y calcular total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Pagos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Procesar transacciones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Cliente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Confirmar compra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Soporte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Tickets y soporte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Cliente / Empleado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Resolver dudas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37"/>
          <p:cNvSpPr/>
          <p:nvPr/>
        </p:nvSpPr>
        <p:spPr>
          <a:xfrm>
            <a:off x="838200" y="2880197"/>
            <a:ext cx="34015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2026-05-29T01:17:26Z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705E030C362944838CDB3B4D8AD8BCA0_13</vt:lpwstr>
  </property>
  <property fmtid="{D5CDD505-2E9C-101B-9397-08002B2CF9AE}" pid="10" name="KSOProductBuildVer">
    <vt:lpwstr>3082-12.1.0.26372</vt:lpwstr>
  </property>
</Properties>
</file>